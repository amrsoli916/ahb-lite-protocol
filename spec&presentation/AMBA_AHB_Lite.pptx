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3" r:id="rId5"/>
    <p:sldId id="264" r:id="rId6"/>
    <p:sldId id="258" r:id="rId7"/>
    <p:sldId id="260" r:id="rId8"/>
    <p:sldId id="265" r:id="rId9"/>
    <p:sldId id="261" r:id="rId10"/>
    <p:sldId id="270" r:id="rId11"/>
    <p:sldId id="272" r:id="rId12"/>
    <p:sldId id="271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ibbaahsrImEL4WS9mLU7PfuJFT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C59"/>
    <a:srgbClr val="FEFEFE"/>
    <a:srgbClr val="001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88d693ce4b_1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g188d693ce4b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531537e65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g3f531537e6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531537e65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g3f531537e6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99454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531537e65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7" name="Google Shape;107;g3f531537e6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27740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531537e6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g3f531537e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531537e65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g3f531537e6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531537e65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g3f531537e6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72647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531537e65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g3f531537e6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V Title Slide">
  <p:cSld name="SV Title Slide">
    <p:bg>
      <p:bgPr>
        <a:gradFill>
          <a:gsLst>
            <a:gs pos="0">
              <a:srgbClr val="F4F8FB"/>
            </a:gs>
            <a:gs pos="52000">
              <a:schemeClr val="lt1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 rotWithShape="1">
          <a:blip r:embed="rId2">
            <a:alphaModFix/>
          </a:blip>
          <a:srcRect t="37262" b="2"/>
          <a:stretch/>
        </p:blipFill>
        <p:spPr>
          <a:xfrm>
            <a:off x="0" y="1366344"/>
            <a:ext cx="12192000" cy="549165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/>
          <p:nvPr/>
        </p:nvSpPr>
        <p:spPr>
          <a:xfrm>
            <a:off x="0" y="0"/>
            <a:ext cx="12192000" cy="150297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4"/>
          <p:cNvPicPr preferRelativeResize="0"/>
          <p:nvPr/>
        </p:nvPicPr>
        <p:blipFill rotWithShape="1">
          <a:blip r:embed="rId3">
            <a:alphaModFix/>
          </a:blip>
          <a:srcRect t="28195" b="35482"/>
          <a:stretch/>
        </p:blipFill>
        <p:spPr>
          <a:xfrm>
            <a:off x="7819697" y="154111"/>
            <a:ext cx="4456386" cy="134886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906092" y="1478904"/>
            <a:ext cx="7493217" cy="932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4000"/>
              <a:buFont typeface="Calibri"/>
              <a:buNone/>
              <a:defRPr sz="4000" b="1">
                <a:solidFill>
                  <a:srgbClr val="1555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906092" y="2410911"/>
            <a:ext cx="7491674" cy="624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  <a:defRPr sz="3200">
                <a:solidFill>
                  <a:srgbClr val="1555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2"/>
          </p:nvPr>
        </p:nvSpPr>
        <p:spPr>
          <a:xfrm>
            <a:off x="906092" y="3045735"/>
            <a:ext cx="749167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15559F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  <a:defRPr>
                <a:solidFill>
                  <a:srgbClr val="595959"/>
                </a:solidFill>
              </a:defRPr>
            </a:lvl2pPr>
            <a:lvl3pPr marL="1371600" lvl="2" indent="-330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–"/>
              <a:defRPr>
                <a:solidFill>
                  <a:srgbClr val="595959"/>
                </a:solidFill>
              </a:defRPr>
            </a:lvl3pPr>
            <a:lvl4pPr marL="1828800" lvl="3" indent="-317500" algn="ctr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Char char="–"/>
              <a:defRPr>
                <a:solidFill>
                  <a:srgbClr val="595959"/>
                </a:solidFill>
              </a:defRPr>
            </a:lvl4pPr>
            <a:lvl5pPr marL="2286000" lvl="4" indent="-317500" algn="ctr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Char char="–"/>
              <a:defRPr>
                <a:solidFill>
                  <a:srgbClr val="595959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3"/>
          </p:nvPr>
        </p:nvSpPr>
        <p:spPr>
          <a:xfrm>
            <a:off x="906091" y="3798960"/>
            <a:ext cx="7491673" cy="396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15559F"/>
                </a:solidFill>
              </a:defRPr>
            </a:lvl1pPr>
            <a:lvl2pPr marL="914400" lvl="1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ubtitle and Content">
  <p:cSld name="Title Sub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609600" y="-1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3600"/>
              <a:buFont typeface="Calibr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1"/>
          </p:nvPr>
        </p:nvSpPr>
        <p:spPr>
          <a:xfrm>
            <a:off x="609600" y="1484802"/>
            <a:ext cx="10972800" cy="484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body" idx="2"/>
          </p:nvPr>
        </p:nvSpPr>
        <p:spPr>
          <a:xfrm>
            <a:off x="609600" y="1005839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i="1">
                <a:solidFill>
                  <a:srgbClr val="15559F"/>
                </a:solidFill>
              </a:defRPr>
            </a:lvl1pPr>
            <a:lvl2pPr marL="914400" lvl="1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rgbClr val="F4F8FB"/>
            </a:gs>
            <a:gs pos="52000">
              <a:schemeClr val="lt1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t="37262" b="2"/>
          <a:stretch/>
        </p:blipFill>
        <p:spPr>
          <a:xfrm>
            <a:off x="0" y="1366344"/>
            <a:ext cx="12192000" cy="549165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/>
          <p:nvPr/>
        </p:nvSpPr>
        <p:spPr>
          <a:xfrm>
            <a:off x="0" y="0"/>
            <a:ext cx="12192000" cy="150297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32;p6"/>
          <p:cNvPicPr preferRelativeResize="0"/>
          <p:nvPr/>
        </p:nvPicPr>
        <p:blipFill rotWithShape="1">
          <a:blip r:embed="rId3">
            <a:alphaModFix/>
          </a:blip>
          <a:srcRect t="28195" b="35482"/>
          <a:stretch/>
        </p:blipFill>
        <p:spPr>
          <a:xfrm>
            <a:off x="7819697" y="154111"/>
            <a:ext cx="4456386" cy="1348868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6"/>
          <p:cNvSpPr txBox="1">
            <a:spLocks noGrp="1"/>
          </p:cNvSpPr>
          <p:nvPr>
            <p:ph type="ctrTitle"/>
          </p:nvPr>
        </p:nvSpPr>
        <p:spPr>
          <a:xfrm>
            <a:off x="906092" y="1478904"/>
            <a:ext cx="7491674" cy="932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4000"/>
              <a:buFont typeface="Calibri"/>
              <a:buNone/>
              <a:defRPr sz="4000" b="1">
                <a:solidFill>
                  <a:srgbClr val="1555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ubTitle" idx="1"/>
          </p:nvPr>
        </p:nvSpPr>
        <p:spPr>
          <a:xfrm>
            <a:off x="906092" y="2410911"/>
            <a:ext cx="7491674" cy="624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  <a:defRPr sz="3200">
                <a:solidFill>
                  <a:srgbClr val="1555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tline">
  <p:cSld name="Outlin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0" y="1215390"/>
            <a:ext cx="12192000" cy="1295438"/>
          </a:xfrm>
          <a:prstGeom prst="rect">
            <a:avLst/>
          </a:prstGeom>
          <a:solidFill>
            <a:srgbClr val="15559F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09600" y="12954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1524000" y="2688610"/>
            <a:ext cx="10058400" cy="355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867"/>
              </a:spcBef>
              <a:spcAft>
                <a:spcPts val="0"/>
              </a:spcAft>
              <a:buSzPts val="2400"/>
              <a:buFont typeface="Calibri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Font typeface="Calibri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Font typeface="Calibri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10"/>
          <p:cNvPicPr preferRelativeResize="0"/>
          <p:nvPr/>
        </p:nvPicPr>
        <p:blipFill rotWithShape="1">
          <a:blip r:embed="rId2">
            <a:alphaModFix/>
          </a:blip>
          <a:srcRect t="70981" b="1"/>
          <a:stretch/>
        </p:blipFill>
        <p:spPr>
          <a:xfrm>
            <a:off x="0" y="2021759"/>
            <a:ext cx="12192000" cy="2540001"/>
          </a:xfrm>
          <a:prstGeom prst="rect">
            <a:avLst/>
          </a:prstGeom>
          <a:gradFill>
            <a:gsLst>
              <a:gs pos="0">
                <a:srgbClr val="15559F"/>
              </a:gs>
              <a:gs pos="38000">
                <a:srgbClr val="15559F"/>
              </a:gs>
              <a:gs pos="74000">
                <a:srgbClr val="AEC5E1"/>
              </a:gs>
              <a:gs pos="83000">
                <a:srgbClr val="AEC5E1"/>
              </a:gs>
              <a:gs pos="100000">
                <a:srgbClr val="C8D8EB"/>
              </a:gs>
            </a:gsLst>
            <a:lin ang="5400000" scaled="0"/>
          </a:gradFill>
          <a:ln>
            <a:noFill/>
          </a:ln>
        </p:spPr>
      </p:pic>
      <p:sp>
        <p:nvSpPr>
          <p:cNvPr id="41" name="Google Shape;41;p10"/>
          <p:cNvSpPr/>
          <p:nvPr/>
        </p:nvSpPr>
        <p:spPr>
          <a:xfrm>
            <a:off x="0" y="2021759"/>
            <a:ext cx="12192000" cy="2540001"/>
          </a:xfrm>
          <a:prstGeom prst="rect">
            <a:avLst/>
          </a:prstGeom>
          <a:gradFill>
            <a:gsLst>
              <a:gs pos="0">
                <a:srgbClr val="15559F"/>
              </a:gs>
              <a:gs pos="50000">
                <a:srgbClr val="15559F"/>
              </a:gs>
              <a:gs pos="70000">
                <a:srgbClr val="15559F">
                  <a:alpha val="80000"/>
                </a:srgbClr>
              </a:gs>
              <a:gs pos="80000">
                <a:srgbClr val="15559F">
                  <a:alpha val="60000"/>
                </a:srgbClr>
              </a:gs>
              <a:gs pos="90000">
                <a:srgbClr val="15559F">
                  <a:alpha val="40000"/>
                </a:srgbClr>
              </a:gs>
              <a:gs pos="100000">
                <a:srgbClr val="15559F">
                  <a:alpha val="2000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609601" y="2010333"/>
            <a:ext cx="10384465" cy="1253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609601" y="3430818"/>
            <a:ext cx="10384465" cy="111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 sz="2800" i="1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Subtitle">
  <p:cSld name="Two Column Subtitle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609600" y="1502383"/>
            <a:ext cx="5384800" cy="484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2"/>
          </p:nvPr>
        </p:nvSpPr>
        <p:spPr>
          <a:xfrm>
            <a:off x="6197600" y="1502383"/>
            <a:ext cx="5384800" cy="484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609600" y="-1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3600"/>
              <a:buFont typeface="Calibr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3"/>
          </p:nvPr>
        </p:nvSpPr>
        <p:spPr>
          <a:xfrm>
            <a:off x="609600" y="1005839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i="1">
                <a:solidFill>
                  <a:srgbClr val="15559F"/>
                </a:solidFill>
              </a:defRPr>
            </a:lvl1pPr>
            <a:lvl2pPr marL="914400" lvl="1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Subtitle">
  <p:cSld name="Three Column Subtitle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body" idx="1"/>
          </p:nvPr>
        </p:nvSpPr>
        <p:spPr>
          <a:xfrm>
            <a:off x="609600" y="1493591"/>
            <a:ext cx="3566160" cy="484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2"/>
          </p:nvPr>
        </p:nvSpPr>
        <p:spPr>
          <a:xfrm>
            <a:off x="8016242" y="1493591"/>
            <a:ext cx="3566160" cy="484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3"/>
          </p:nvPr>
        </p:nvSpPr>
        <p:spPr>
          <a:xfrm>
            <a:off x="4312921" y="1493591"/>
            <a:ext cx="3566160" cy="484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title"/>
          </p:nvPr>
        </p:nvSpPr>
        <p:spPr>
          <a:xfrm>
            <a:off x="609600" y="-1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3600"/>
              <a:buFont typeface="Calibr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4"/>
          </p:nvPr>
        </p:nvSpPr>
        <p:spPr>
          <a:xfrm>
            <a:off x="609600" y="1005839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i="1">
                <a:solidFill>
                  <a:srgbClr val="15559F"/>
                </a:solidFill>
              </a:defRPr>
            </a:lvl1pPr>
            <a:lvl2pPr marL="914400" lvl="1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Gray Bar">
  <p:cSld name="Title and Content Gray Ba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0" y="1434301"/>
            <a:ext cx="1219200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1"/>
          </p:nvPr>
        </p:nvSpPr>
        <p:spPr>
          <a:xfrm>
            <a:off x="609600" y="1476007"/>
            <a:ext cx="10972800" cy="484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609600" y="-1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3600"/>
              <a:buFont typeface="Calibr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2"/>
          </p:nvPr>
        </p:nvSpPr>
        <p:spPr>
          <a:xfrm>
            <a:off x="609600" y="1005839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i="1">
                <a:solidFill>
                  <a:srgbClr val="15559F"/>
                </a:solidFill>
              </a:defRPr>
            </a:lvl1pPr>
            <a:lvl2pPr marL="914400" lvl="1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Gray">
  <p:cSld name="Two Column Gra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0" y="1434301"/>
            <a:ext cx="1219200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609600" y="1470072"/>
            <a:ext cx="5384800" cy="484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2"/>
          </p:nvPr>
        </p:nvSpPr>
        <p:spPr>
          <a:xfrm>
            <a:off x="6197600" y="1470072"/>
            <a:ext cx="5384800" cy="484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609600" y="-1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3600"/>
              <a:buFont typeface="Calibr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3"/>
          </p:nvPr>
        </p:nvSpPr>
        <p:spPr>
          <a:xfrm>
            <a:off x="609600" y="1005839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i="1">
                <a:solidFill>
                  <a:srgbClr val="15559F"/>
                </a:solidFill>
              </a:defRPr>
            </a:lvl1pPr>
            <a:lvl2pPr marL="914400" lvl="1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Subtitle Gray Bar">
  <p:cSld name="Three Column Subtitle Gray Ba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0" y="1434301"/>
            <a:ext cx="1219200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609600" y="1476007"/>
            <a:ext cx="3566160" cy="484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2"/>
          </p:nvPr>
        </p:nvSpPr>
        <p:spPr>
          <a:xfrm>
            <a:off x="8016242" y="1476007"/>
            <a:ext cx="3566160" cy="484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3"/>
          </p:nvPr>
        </p:nvSpPr>
        <p:spPr>
          <a:xfrm>
            <a:off x="4312921" y="1476007"/>
            <a:ext cx="3566160" cy="484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609600" y="-1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3600"/>
              <a:buFont typeface="Calibr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4"/>
          </p:nvPr>
        </p:nvSpPr>
        <p:spPr>
          <a:xfrm>
            <a:off x="609600" y="1005839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i="1">
                <a:solidFill>
                  <a:srgbClr val="15559F"/>
                </a:solidFill>
              </a:defRPr>
            </a:lvl1pPr>
            <a:lvl2pPr marL="914400" lvl="1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ntent Subtitle Gray Bar">
  <p:cSld name="Four Content Subtitle Gray Ba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/>
          <p:nvPr/>
        </p:nvSpPr>
        <p:spPr>
          <a:xfrm>
            <a:off x="0" y="1434301"/>
            <a:ext cx="12192000" cy="4937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609600" y="1458690"/>
            <a:ext cx="5376672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2"/>
          </p:nvPr>
        </p:nvSpPr>
        <p:spPr>
          <a:xfrm>
            <a:off x="6197600" y="1458690"/>
            <a:ext cx="5376672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3"/>
          </p:nvPr>
        </p:nvSpPr>
        <p:spPr>
          <a:xfrm>
            <a:off x="609600" y="3972070"/>
            <a:ext cx="5376672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4"/>
          </p:nvPr>
        </p:nvSpPr>
        <p:spPr>
          <a:xfrm>
            <a:off x="6197600" y="3972070"/>
            <a:ext cx="5376672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600"/>
              <a:buChar char="–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609600" y="-1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3600"/>
              <a:buFont typeface="Calibri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5"/>
          </p:nvPr>
        </p:nvSpPr>
        <p:spPr>
          <a:xfrm>
            <a:off x="609600" y="1005839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i="1">
                <a:solidFill>
                  <a:srgbClr val="15559F"/>
                </a:solidFill>
              </a:defRPr>
            </a:lvl1pPr>
            <a:lvl2pPr marL="914400" lvl="1" indent="-33147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2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gradFill>
          <a:gsLst>
            <a:gs pos="0">
              <a:srgbClr val="F4F8FB"/>
            </a:gs>
            <a:gs pos="52000">
              <a:schemeClr val="lt1"/>
            </a:gs>
            <a:gs pos="100000">
              <a:schemeClr val="lt1"/>
            </a:gs>
          </a:gsLst>
          <a:lin ang="5400000" scaled="0"/>
        </a:gra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 rotWithShape="1">
          <a:blip r:embed="rId2">
            <a:alphaModFix/>
          </a:blip>
          <a:srcRect t="37262" b="2"/>
          <a:stretch/>
        </p:blipFill>
        <p:spPr>
          <a:xfrm>
            <a:off x="0" y="1366344"/>
            <a:ext cx="12192000" cy="549165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/>
          <p:nvPr/>
        </p:nvSpPr>
        <p:spPr>
          <a:xfrm>
            <a:off x="0" y="0"/>
            <a:ext cx="12192000" cy="150297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18"/>
          <p:cNvPicPr preferRelativeResize="0"/>
          <p:nvPr/>
        </p:nvPicPr>
        <p:blipFill rotWithShape="1">
          <a:blip r:embed="rId3">
            <a:alphaModFix/>
          </a:blip>
          <a:srcRect t="28195" b="35482"/>
          <a:stretch/>
        </p:blipFill>
        <p:spPr>
          <a:xfrm>
            <a:off x="7819697" y="154111"/>
            <a:ext cx="4456386" cy="134886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 txBox="1"/>
          <p:nvPr/>
        </p:nvSpPr>
        <p:spPr>
          <a:xfrm>
            <a:off x="1360968" y="1832339"/>
            <a:ext cx="436342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i="0" u="none" strike="noStrike" cap="none">
                <a:solidFill>
                  <a:srgbClr val="15559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logo">
  <p:cSld name="End logo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85787" y="2804741"/>
            <a:ext cx="4620426" cy="124851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9"/>
          <p:cNvSpPr/>
          <p:nvPr/>
        </p:nvSpPr>
        <p:spPr>
          <a:xfrm>
            <a:off x="0" y="6135880"/>
            <a:ext cx="12192000" cy="7221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559F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1555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147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Calibri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2" name="Google Shape;12;p3"/>
          <p:cNvPicPr preferRelativeResize="0"/>
          <p:nvPr/>
        </p:nvPicPr>
        <p:blipFill rotWithShape="1">
          <a:blip r:embed="rId16">
            <a:alphaModFix/>
          </a:blip>
          <a:srcRect t="28195" b="35482"/>
          <a:stretch/>
        </p:blipFill>
        <p:spPr>
          <a:xfrm>
            <a:off x="249382" y="6291052"/>
            <a:ext cx="1422035" cy="43042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/>
        </p:nvSpPr>
        <p:spPr>
          <a:xfrm>
            <a:off x="1581788" y="6356351"/>
            <a:ext cx="18812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© 2025 Si-Vision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"/>
          <p:cNvSpPr txBox="1"/>
          <p:nvPr/>
        </p:nvSpPr>
        <p:spPr>
          <a:xfrm>
            <a:off x="4174226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Si-Vision Confidential Information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"/>
          <p:cNvSpPr txBox="1"/>
          <p:nvPr/>
        </p:nvSpPr>
        <p:spPr>
          <a:xfrm>
            <a:off x="10613872" y="6431191"/>
            <a:ext cx="96852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96"/>
          <p:cNvSpPr/>
          <p:nvPr/>
        </p:nvSpPr>
        <p:spPr>
          <a:xfrm>
            <a:off x="0" y="0"/>
            <a:ext cx="12192000" cy="566261"/>
          </a:xfrm>
          <a:prstGeom prst="rect">
            <a:avLst/>
          </a:prstGeom>
          <a:solidFill>
            <a:srgbClr val="0F2C59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892669" y="73818"/>
            <a:ext cx="557432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dirty="0">
                <a:solidFill>
                  <a:srgbClr val="FFFFFF"/>
                </a:solidFill>
              </a:rPr>
              <a:t>AMBA AHB-Lite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48640" y="14630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dirty="0"/>
              <a:t>AHB-Lite is a simplified version of the AMBA AHB bus used to connect a master to one or more slaves.</a:t>
            </a:r>
          </a:p>
          <a:p>
            <a:pPr>
              <a:defRPr sz="2000"/>
            </a:pPr>
            <a:r>
              <a:rPr dirty="0"/>
              <a:t>The bus uses address and control signals, then a separate data phase follows.</a:t>
            </a:r>
          </a:p>
          <a:p>
            <a:pPr>
              <a:defRPr sz="2000"/>
            </a:pPr>
            <a:r>
              <a:rPr dirty="0"/>
              <a:t>The design is pipelined: while one transfer is in the data phase, the next transfer can be in the address phase.</a:t>
            </a:r>
          </a:p>
          <a:p>
            <a:pPr>
              <a:defRPr sz="2000"/>
            </a:pPr>
            <a:r>
              <a:rPr dirty="0"/>
              <a:t>Main blocks: Master, Decoder, Mux, and Slaves.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22960" y="4937760"/>
            <a:ext cx="1463040" cy="640080"/>
          </a:xfrm>
          <a:prstGeom prst="roundRect">
            <a:avLst/>
          </a:prstGeom>
          <a:solidFill>
            <a:srgbClr val="EBF2FA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</a:rPr>
              <a:t>Master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749039" y="4937760"/>
            <a:ext cx="1645920" cy="640080"/>
          </a:xfrm>
          <a:prstGeom prst="roundRect">
            <a:avLst/>
          </a:prstGeom>
          <a:solidFill>
            <a:srgbClr val="EBF2FA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</a:rPr>
              <a:t>Decoder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583680" y="4937760"/>
            <a:ext cx="1463040" cy="640080"/>
          </a:xfrm>
          <a:prstGeom prst="roundRect">
            <a:avLst/>
          </a:prstGeom>
          <a:solidFill>
            <a:srgbClr val="EBF2FA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</a:rPr>
              <a:t>Mux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144000" y="4937760"/>
            <a:ext cx="1463040" cy="640080"/>
          </a:xfrm>
          <a:prstGeom prst="roundRect">
            <a:avLst/>
          </a:prstGeom>
          <a:solidFill>
            <a:srgbClr val="EBF2FA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chemeClr val="tx1"/>
                </a:solidFill>
              </a:rPr>
              <a:t>Slave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F2C59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57200" y="137160"/>
            <a:ext cx="1127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AHB-Lite Architecture and Signal Groups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29814" y="4224461"/>
            <a:ext cx="56692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sz="2000" b="1" dirty="0">
                <a:solidFill>
                  <a:srgbClr val="0F2C59"/>
                </a:solidFill>
              </a:rPr>
              <a:t>Address and control signals</a:t>
            </a:r>
            <a:r>
              <a:rPr dirty="0">
                <a:solidFill>
                  <a:srgbClr val="0F2C59"/>
                </a:solidFill>
              </a:rPr>
              <a:t>:</a:t>
            </a:r>
          </a:p>
          <a:p>
            <a:pPr lvl="1">
              <a:defRPr sz="1600"/>
            </a:pPr>
            <a:r>
              <a:rPr dirty="0"/>
              <a:t>HADDR[31:0] - address bus</a:t>
            </a:r>
          </a:p>
          <a:p>
            <a:pPr lvl="1">
              <a:defRPr sz="1600"/>
            </a:pPr>
            <a:r>
              <a:rPr dirty="0"/>
              <a:t>HWRITE - read/write control</a:t>
            </a:r>
          </a:p>
          <a:p>
            <a:pPr lvl="1">
              <a:defRPr sz="1600"/>
            </a:pPr>
            <a:r>
              <a:rPr dirty="0"/>
              <a:t>HTRANS[1:0] - transfer type</a:t>
            </a:r>
          </a:p>
          <a:p>
            <a:pPr lvl="1">
              <a:defRPr sz="1600"/>
            </a:pPr>
            <a:r>
              <a:rPr dirty="0"/>
              <a:t>HBURST[2:0] - burst type</a:t>
            </a:r>
          </a:p>
          <a:p>
            <a:pPr lvl="1">
              <a:defRPr sz="1600"/>
            </a:pPr>
            <a:r>
              <a:rPr dirty="0"/>
              <a:t>HSIZE[2:0] - transfer size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27539" y="4224461"/>
            <a:ext cx="50292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sz="2000" b="1" dirty="0">
                <a:solidFill>
                  <a:srgbClr val="0F2C59"/>
                </a:solidFill>
              </a:rPr>
              <a:t>Handshake and data signals:</a:t>
            </a:r>
          </a:p>
          <a:p>
            <a:pPr lvl="1">
              <a:defRPr sz="1600"/>
            </a:pPr>
            <a:r>
              <a:rPr dirty="0"/>
              <a:t>HREADY - global bus ready</a:t>
            </a:r>
          </a:p>
          <a:p>
            <a:pPr lvl="1">
              <a:defRPr sz="1600"/>
            </a:pPr>
            <a:r>
              <a:rPr dirty="0"/>
              <a:t>HREADYOUT - slave ready output</a:t>
            </a:r>
          </a:p>
          <a:p>
            <a:pPr lvl="1">
              <a:defRPr sz="1600"/>
            </a:pPr>
            <a:r>
              <a:rPr dirty="0"/>
              <a:t>HRESP[1:0] - response (OKAY/ERROR)</a:t>
            </a:r>
          </a:p>
          <a:p>
            <a:pPr lvl="1">
              <a:defRPr sz="1600"/>
            </a:pPr>
            <a:r>
              <a:rPr dirty="0"/>
              <a:t>HRDATA[31:0] - read data</a:t>
            </a:r>
          </a:p>
          <a:p>
            <a:pPr lvl="1">
              <a:defRPr sz="1600"/>
            </a:pPr>
            <a:r>
              <a:rPr dirty="0"/>
              <a:t>HWDATA[31:0] - write data</a:t>
            </a:r>
          </a:p>
          <a:p>
            <a:pPr lvl="1">
              <a:defRPr sz="1600"/>
            </a:pPr>
            <a:r>
              <a:rPr dirty="0"/>
              <a:t>HSELx - slave select from the decoder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296DC7-EB1F-4CE1-B411-62A2E20DC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11350869" cy="339798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08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F2C59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57200" y="137160"/>
            <a:ext cx="1127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Burst Types and Address Behavior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48640" y="1366897"/>
            <a:ext cx="4990514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F2C59"/>
                </a:solidFill>
              </a:rPr>
              <a:t>What is a Burst?</a:t>
            </a:r>
          </a:p>
          <a:p>
            <a:endParaRPr lang="en-US" sz="1200" b="1" dirty="0">
              <a:solidFill>
                <a:srgbClr val="0F2C59"/>
              </a:solidFill>
            </a:endParaRPr>
          </a:p>
          <a:p>
            <a:r>
              <a:rPr lang="en-US" sz="1600" dirty="0"/>
              <a:t>A burst transfer is a sequence of consecutive data transfers performed under a single bus request. Instead of requesting the bus for every data transfer, the master keeps control of the bus and transfers multiple data words continuously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800" b="1" dirty="0">
                <a:solidFill>
                  <a:srgbClr val="0F2C59"/>
                </a:solidFill>
              </a:rPr>
              <a:t>Why Use Burst Transfers?</a:t>
            </a:r>
          </a:p>
          <a:p>
            <a:endParaRPr lang="en-US" sz="1200" b="1" dirty="0">
              <a:solidFill>
                <a:srgbClr val="0F2C5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Reduce bus arbitration overhead.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Increase data throughput.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Improve memory access efficiency.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Support high-speed peripherals such as DMA, caches, and memory controllers.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9F875F-C06C-42B4-9372-6B0B7296D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154" y="1051560"/>
            <a:ext cx="6652846" cy="5199771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2739BF-4372-4A80-96AF-A65D35C96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31287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17D5480-8BAC-45E7-BBE3-D1F59E35C0D8}"/>
              </a:ext>
            </a:extLst>
          </p:cNvPr>
          <p:cNvSpPr/>
          <p:nvPr/>
        </p:nvSpPr>
        <p:spPr>
          <a:xfrm>
            <a:off x="5468815" y="0"/>
            <a:ext cx="1213339" cy="633046"/>
          </a:xfrm>
          <a:prstGeom prst="rect">
            <a:avLst/>
          </a:prstGeom>
          <a:solidFill>
            <a:srgbClr val="001E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C596EF-9F95-4320-A6E3-F1F75EC1BCCE}"/>
              </a:ext>
            </a:extLst>
          </p:cNvPr>
          <p:cNvSpPr/>
          <p:nvPr/>
        </p:nvSpPr>
        <p:spPr>
          <a:xfrm>
            <a:off x="5986096" y="633046"/>
            <a:ext cx="219807" cy="567983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344C558-A087-41C8-A166-3591D67AFA6F}"/>
              </a:ext>
            </a:extLst>
          </p:cNvPr>
          <p:cNvCxnSpPr/>
          <p:nvPr/>
        </p:nvCxnSpPr>
        <p:spPr>
          <a:xfrm>
            <a:off x="5608027" y="6304085"/>
            <a:ext cx="75613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F87A32-FB48-449F-92E7-C80E85A8DA62}"/>
              </a:ext>
            </a:extLst>
          </p:cNvPr>
          <p:cNvCxnSpPr/>
          <p:nvPr/>
        </p:nvCxnSpPr>
        <p:spPr>
          <a:xfrm>
            <a:off x="5717931" y="633046"/>
            <a:ext cx="756138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4814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A93C22-8E46-41D7-A851-E0DC78D86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517" y="0"/>
            <a:ext cx="12192000" cy="631287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17D5480-8BAC-45E7-BBE3-D1F59E35C0D8}"/>
              </a:ext>
            </a:extLst>
          </p:cNvPr>
          <p:cNvSpPr/>
          <p:nvPr/>
        </p:nvSpPr>
        <p:spPr>
          <a:xfrm>
            <a:off x="5468813" y="-1"/>
            <a:ext cx="1213339" cy="633041"/>
          </a:xfrm>
          <a:prstGeom prst="rect">
            <a:avLst/>
          </a:prstGeom>
          <a:solidFill>
            <a:srgbClr val="001E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C596EF-9F95-4320-A6E3-F1F75EC1BCCE}"/>
              </a:ext>
            </a:extLst>
          </p:cNvPr>
          <p:cNvSpPr/>
          <p:nvPr/>
        </p:nvSpPr>
        <p:spPr>
          <a:xfrm>
            <a:off x="5965580" y="633046"/>
            <a:ext cx="219807" cy="567983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F87A32-FB48-449F-92E7-C80E85A8DA62}"/>
              </a:ext>
            </a:extLst>
          </p:cNvPr>
          <p:cNvCxnSpPr/>
          <p:nvPr/>
        </p:nvCxnSpPr>
        <p:spPr>
          <a:xfrm>
            <a:off x="5697413" y="633046"/>
            <a:ext cx="756138" cy="0"/>
          </a:xfrm>
          <a:prstGeom prst="line">
            <a:avLst/>
          </a:prstGeom>
          <a:ln w="19050">
            <a:solidFill>
              <a:srgbClr val="001E5D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DC2F062-9A40-4C2E-80DE-08E682B1712E}"/>
              </a:ext>
            </a:extLst>
          </p:cNvPr>
          <p:cNvSpPr/>
          <p:nvPr/>
        </p:nvSpPr>
        <p:spPr>
          <a:xfrm>
            <a:off x="105508" y="4167554"/>
            <a:ext cx="2751992" cy="38686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371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0F2C59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57200" y="137160"/>
            <a:ext cx="1127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Transfer Types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8088F7-5BD1-459C-9C51-24C416E08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6327" y="914400"/>
            <a:ext cx="3686197" cy="5419963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322385" y="1052946"/>
            <a:ext cx="824896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sz="2400" b="1" dirty="0">
                <a:solidFill>
                  <a:srgbClr val="0F2C59"/>
                </a:solidFill>
              </a:rPr>
              <a:t>IDLE: </a:t>
            </a:r>
            <a:endParaRPr lang="en-US" sz="2400" b="1" dirty="0">
              <a:solidFill>
                <a:srgbClr val="0F2C59"/>
              </a:solidFill>
            </a:endParaRPr>
          </a:p>
          <a:p>
            <a:pPr>
              <a:defRPr sz="2200"/>
            </a:pPr>
            <a:r>
              <a:rPr dirty="0"/>
              <a:t>no transfer is taking place; the master is not requesting the bus.</a:t>
            </a:r>
          </a:p>
          <a:p>
            <a:pPr>
              <a:defRPr sz="2200"/>
            </a:pPr>
            <a:r>
              <a:rPr sz="2400" b="1" dirty="0">
                <a:solidFill>
                  <a:srgbClr val="0F2C59"/>
                </a:solidFill>
              </a:rPr>
              <a:t>BUSY:</a:t>
            </a:r>
            <a:endParaRPr lang="en-US" sz="2400" b="1" dirty="0">
              <a:solidFill>
                <a:srgbClr val="0F2C59"/>
              </a:solidFill>
            </a:endParaRPr>
          </a:p>
          <a:p>
            <a:pPr>
              <a:defRPr sz="2200"/>
            </a:pPr>
            <a:r>
              <a:rPr dirty="0"/>
              <a:t> the master keeps the burst active but inserts a wait-like cycle inside the burst.</a:t>
            </a:r>
          </a:p>
          <a:p>
            <a:pPr>
              <a:defRPr sz="2200"/>
            </a:pPr>
            <a:r>
              <a:rPr sz="2400" b="1" dirty="0">
                <a:solidFill>
                  <a:srgbClr val="0F2C59"/>
                </a:solidFill>
              </a:rPr>
              <a:t>NONSEQ: </a:t>
            </a:r>
            <a:endParaRPr lang="en-US" sz="2400" b="1" dirty="0">
              <a:solidFill>
                <a:srgbClr val="0F2C59"/>
              </a:solidFill>
            </a:endParaRPr>
          </a:p>
          <a:p>
            <a:pPr>
              <a:defRPr sz="2200"/>
            </a:pPr>
            <a:r>
              <a:rPr dirty="0"/>
              <a:t>the first transfer of a burst or any single transfer; it starts a new address sequence.</a:t>
            </a:r>
          </a:p>
          <a:p>
            <a:pPr>
              <a:defRPr sz="2200"/>
            </a:pPr>
            <a:r>
              <a:rPr sz="2400" b="1" dirty="0">
                <a:solidFill>
                  <a:srgbClr val="0F2C59"/>
                </a:solidFill>
              </a:rPr>
              <a:t>SEQ: </a:t>
            </a:r>
            <a:endParaRPr lang="en-US" sz="2400" b="1" dirty="0">
              <a:solidFill>
                <a:srgbClr val="0F2C59"/>
              </a:solidFill>
            </a:endParaRPr>
          </a:p>
          <a:p>
            <a:pPr>
              <a:defRPr sz="2200"/>
            </a:pPr>
            <a:r>
              <a:rPr dirty="0"/>
              <a:t>a transfer that continues the previous burst with a sequential address.</a:t>
            </a:r>
          </a:p>
          <a:p>
            <a:pPr>
              <a:defRPr sz="2200"/>
            </a:pPr>
            <a:r>
              <a:rPr dirty="0"/>
              <a:t>The master changes HTRANS according to the current bus activity and the transfer pipeline.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5AD497-147C-4D3B-82DF-4CB27B3133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20" t="-704" r="7790" b="704"/>
          <a:stretch/>
        </p:blipFill>
        <p:spPr>
          <a:xfrm>
            <a:off x="609599" y="777240"/>
            <a:ext cx="11203710" cy="3212868"/>
          </a:xfrm>
          <a:prstGeom prst="rect">
            <a:avLst/>
          </a:prstGeom>
        </p:spPr>
      </p:pic>
      <p:sp>
        <p:nvSpPr>
          <p:cNvPr id="113" name="Rectangle 11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F2C59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57200" y="137160"/>
            <a:ext cx="11277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Handshake, Wait States, and Response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09599" y="3898207"/>
            <a:ext cx="54864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rPr b="1" dirty="0">
                <a:solidFill>
                  <a:srgbClr val="0F2C59"/>
                </a:solidFill>
              </a:rPr>
              <a:t>HREADY</a:t>
            </a:r>
            <a:r>
              <a:rPr dirty="0"/>
              <a:t> tells whether the bus is ready to complete the current transfer.</a:t>
            </a:r>
          </a:p>
          <a:p>
            <a:pPr>
              <a:defRPr sz="1900"/>
            </a:pPr>
            <a:r>
              <a:rPr dirty="0"/>
              <a:t>If HREADY is LOW, the slave inserts wait states and the master must hold address/control stable.</a:t>
            </a:r>
          </a:p>
          <a:p>
            <a:pPr>
              <a:defRPr sz="1900"/>
            </a:pPr>
            <a:r>
              <a:rPr dirty="0"/>
              <a:t>HREADYOUT is the slave-side ready signal; HREADY is the final bus-level ready.</a:t>
            </a:r>
          </a:p>
          <a:p>
            <a:pPr>
              <a:defRPr sz="1900"/>
            </a:pPr>
            <a:r>
              <a:rPr dirty="0"/>
              <a:t>If an error occurs, HRESP indicates an error response instead of a normal OKAY response.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705600" y="3898207"/>
            <a:ext cx="5029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/>
            </a:pPr>
            <a:r>
              <a:rPr dirty="0"/>
              <a:t>The master can only update the address when the previous transfer is accepted.</a:t>
            </a:r>
          </a:p>
          <a:p>
            <a:pPr>
              <a:defRPr sz="1900"/>
            </a:pPr>
            <a:r>
              <a:rPr dirty="0"/>
              <a:t>During a wait state, address and control remain unchanged.</a:t>
            </a:r>
          </a:p>
          <a:p>
            <a:pPr>
              <a:defRPr sz="1900"/>
            </a:pPr>
            <a:r>
              <a:rPr dirty="0"/>
              <a:t>Read data becomes valid only after the data phase completes.</a:t>
            </a:r>
          </a:p>
          <a:p>
            <a:pPr>
              <a:defRPr sz="1900"/>
            </a:pPr>
            <a:r>
              <a:rPr dirty="0"/>
              <a:t>Write data is driven in the data phase, following the address/control phase.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46092E0-3E0B-409F-BFB7-FD263C34D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673" y="4451152"/>
            <a:ext cx="6282606" cy="1947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D33E83-CAC3-469F-93ED-1D870A69C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9636" y="2569155"/>
            <a:ext cx="6282605" cy="2067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46DD8E-5247-40B5-9CF3-008724F85B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9600" y="670638"/>
            <a:ext cx="6402679" cy="2067500"/>
          </a:xfrm>
          <a:prstGeom prst="rect">
            <a:avLst/>
          </a:prstGeom>
        </p:spPr>
      </p:pic>
      <p:sp>
        <p:nvSpPr>
          <p:cNvPr id="113" name="Rectangle 11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F2C59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57200" y="137160"/>
            <a:ext cx="330411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Waited Transfers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86326" y="1051560"/>
            <a:ext cx="5523347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F2C59"/>
                </a:solidFill>
              </a:rPr>
              <a:t>Overview</a:t>
            </a:r>
          </a:p>
          <a:p>
            <a:r>
              <a:rPr lang="en-US" dirty="0"/>
              <a:t>A slave inserts wait states by driving HREADY = LOW when it needs additional time to complete a transfer. During a wait state, the current transfer is extended, and the master is restricted in what it can change until HREADY returns HIGH.</a:t>
            </a:r>
          </a:p>
          <a:p>
            <a:r>
              <a:rPr lang="en-US" sz="1800" b="1" dirty="0">
                <a:solidFill>
                  <a:srgbClr val="0F2C59"/>
                </a:solidFill>
              </a:rPr>
              <a:t>General Rule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HREADY = LOW, the master must keep the current address and control signals stable.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specific HTRANS changes are permitted during wait states.</a:t>
            </a:r>
          </a:p>
          <a:p>
            <a:r>
              <a:rPr lang="en-US" sz="1600" b="1" dirty="0">
                <a:solidFill>
                  <a:srgbClr val="0F2C59"/>
                </a:solidFill>
              </a:rPr>
              <a:t>Transfer Type Changes During Wait States</a:t>
            </a:r>
          </a:p>
          <a:p>
            <a:r>
              <a:rPr lang="en-US" dirty="0"/>
              <a:t>The master must not change HTRANS while HREADY = LOW, except in the following cases: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4196768-BCA5-4144-A8A6-26772B8F1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023324"/>
              </p:ext>
            </p:extLst>
          </p:nvPr>
        </p:nvGraphicFramePr>
        <p:xfrm>
          <a:off x="286326" y="4098548"/>
          <a:ext cx="5403274" cy="2088814"/>
        </p:xfrm>
        <a:graphic>
          <a:graphicData uri="http://schemas.openxmlformats.org/drawingml/2006/table">
            <a:tbl>
              <a:tblPr/>
              <a:tblGrid>
                <a:gridCol w="2701637">
                  <a:extLst>
                    <a:ext uri="{9D8B030D-6E8A-4147-A177-3AD203B41FA5}">
                      <a16:colId xmlns:a16="http://schemas.microsoft.com/office/drawing/2014/main" val="2366911798"/>
                    </a:ext>
                  </a:extLst>
                </a:gridCol>
                <a:gridCol w="2701637">
                  <a:extLst>
                    <a:ext uri="{9D8B030D-6E8A-4147-A177-3AD203B41FA5}">
                      <a16:colId xmlns:a16="http://schemas.microsoft.com/office/drawing/2014/main" val="625892282"/>
                    </a:ext>
                  </a:extLst>
                </a:gridCol>
              </a:tblGrid>
              <a:tr h="205780">
                <a:tc>
                  <a:txBody>
                    <a:bodyPr/>
                    <a:lstStyle/>
                    <a:p>
                      <a:r>
                        <a:rPr lang="en-US" dirty="0"/>
                        <a:t>Current Transfer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Allowed Change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3988385"/>
                  </a:ext>
                </a:extLst>
              </a:tr>
              <a:tr h="632927">
                <a:tc>
                  <a:txBody>
                    <a:bodyPr/>
                    <a:lstStyle/>
                    <a:p>
                      <a:r>
                        <a:rPr lang="en-US" b="1" dirty="0"/>
                        <a:t>IDLE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NONSEQ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537094"/>
                  </a:ext>
                </a:extLst>
              </a:tr>
              <a:tr h="632927">
                <a:tc>
                  <a:txBody>
                    <a:bodyPr/>
                    <a:lstStyle/>
                    <a:p>
                      <a:r>
                        <a:rPr lang="en-US" b="1"/>
                        <a:t>BUSY</a:t>
                      </a:r>
                      <a:r>
                        <a:rPr lang="en-US"/>
                        <a:t> (Fixed-length burst: INCR4/8/16, WRAP4/8/16)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SEQ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3445371"/>
                  </a:ext>
                </a:extLst>
              </a:tr>
              <a:tr h="448323">
                <a:tc>
                  <a:txBody>
                    <a:bodyPr/>
                    <a:lstStyle/>
                    <a:p>
                      <a:r>
                        <a:rPr lang="en-US" b="1"/>
                        <a:t>BUSY</a:t>
                      </a:r>
                      <a:r>
                        <a:rPr lang="en-US"/>
                        <a:t> (Undefined-length burst: INCR)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SEQ, NONSEQ, or IDLE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2522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599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F2C59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57200" y="137160"/>
            <a:ext cx="42370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Protection Control</a:t>
            </a:r>
            <a:endParaRPr sz="2600" b="1" dirty="0">
              <a:solidFill>
                <a:schemeClr val="bg1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307731" y="1190906"/>
            <a:ext cx="5416061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F2C59"/>
                </a:solidFill>
              </a:rPr>
              <a:t>Overview</a:t>
            </a:r>
          </a:p>
          <a:p>
            <a:r>
              <a:rPr lang="en-US" sz="1600" dirty="0"/>
              <a:t>The HPROT signals provide additional information about the current bus transfer. They allow slaves and memory systems to determine how the transfer should be handled, such as whether it is a data or instruction access, privileged or user access, and whether it is cacheable or bufferable.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000" b="1" dirty="0">
                <a:solidFill>
                  <a:srgbClr val="0F2C59"/>
                </a:solidFill>
              </a:rPr>
              <a:t>Purpose</a:t>
            </a:r>
          </a:p>
          <a:p>
            <a:r>
              <a:rPr lang="en-US" sz="1800" dirty="0"/>
              <a:t>HPROT is used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Distinguish between instruction fetch and data access.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Indicate privileged or user mode access.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Specify whether the transfer is cacheable.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Specify whether the transfer is bufferable.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E40EC7-1C50-4650-B909-39692DFB2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792" y="1023851"/>
            <a:ext cx="6254006" cy="520989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F2C59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57200" y="137160"/>
            <a:ext cx="42370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Address Decoding</a:t>
            </a:r>
            <a:endParaRPr sz="2600" b="1" dirty="0">
              <a:solidFill>
                <a:schemeClr val="bg1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548640" y="1190906"/>
            <a:ext cx="11094720" cy="5209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sz="1800" b="1" dirty="0">
                <a:solidFill>
                  <a:srgbClr val="0F2C59"/>
                </a:solidFill>
              </a:rPr>
              <a:t>Overview</a:t>
            </a:r>
          </a:p>
          <a:p>
            <a:r>
              <a:rPr lang="en-US" sz="1600" dirty="0"/>
              <a:t>In an AHB-Lite system, a central address decoder monitors the address from the master and generates one slave-select signal, HSELx, for each slave. The master itself does not see the individual slaves; it only interacts with the decoder’s select lines.</a:t>
            </a:r>
          </a:p>
          <a:p>
            <a:endParaRPr lang="en-US" sz="400" dirty="0"/>
          </a:p>
          <a:p>
            <a:r>
              <a:rPr lang="en-US" sz="1800" b="1" dirty="0">
                <a:solidFill>
                  <a:srgbClr val="0F2C59"/>
                </a:solidFill>
              </a:rPr>
              <a:t>Decode Boundary Rule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Each slave is normally allocated at least a 1KB address region.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This ensures that a burst transfer (NONSEQ followed by SEQ transfers) never crosses an address decode boundary into a different slave.</a:t>
            </a:r>
          </a:p>
          <a:p>
            <a:endParaRPr lang="en-US" sz="400" dirty="0"/>
          </a:p>
          <a:p>
            <a:r>
              <a:rPr lang="en-US" sz="1800" b="1" dirty="0">
                <a:solidFill>
                  <a:srgbClr val="0F2C59"/>
                </a:solidFill>
              </a:rPr>
              <a:t>Default Slave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If an address does not map to any real slave, the decoder selects a default slave.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default slave always returns the ERROR response, so an unmapped access never wrongly appears to complete with OKAY.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F2C59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57200" y="137160"/>
            <a:ext cx="42370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Slave Transfer Response</a:t>
            </a:r>
            <a:endParaRPr sz="2600" b="1" dirty="0">
              <a:solidFill>
                <a:schemeClr val="bg1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371086" y="914400"/>
            <a:ext cx="11094720" cy="1504423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rPr lang="en-US" sz="1800" b="1" dirty="0">
                <a:solidFill>
                  <a:srgbClr val="0F2C59"/>
                </a:solidFill>
              </a:rPr>
              <a:t>Overview</a:t>
            </a:r>
          </a:p>
          <a:p>
            <a:r>
              <a:rPr lang="en-US" sz="1600" dirty="0"/>
              <a:t>Every slave signals the outcome of a transfer to the master using HRESP together with HREADY. For each transfer, a slave does one of the following: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Completes the transfer immediately.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Inserts one or more wait states before completing the transfer.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Signals an error.</a:t>
            </a:r>
          </a:p>
        </p:txBody>
      </p:sp>
      <p:graphicFrame>
        <p:nvGraphicFramePr>
          <p:cNvPr id="20" name="Table HRES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419506"/>
              </p:ext>
            </p:extLst>
          </p:nvPr>
        </p:nvGraphicFramePr>
        <p:xfrm>
          <a:off x="457200" y="2392704"/>
          <a:ext cx="4200000" cy="1451493"/>
        </p:xfrm>
        <a:graphic>
          <a:graphicData uri="http://schemas.openxmlformats.org/drawingml/2006/table">
            <a:tbl>
              <a:tblPr firstRow="1" bandRow="1"/>
              <a:tblGrid>
                <a:gridCol w="1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66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HRESP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Meaning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66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 – OKAY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Transfer completed successfully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66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 –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problem occurred with the transfer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TextBox ErrorTiming"/>
          <p:cNvSpPr txBox="1"/>
          <p:nvPr/>
        </p:nvSpPr>
        <p:spPr>
          <a:xfrm>
            <a:off x="5413347" y="2186530"/>
            <a:ext cx="6543360" cy="1810531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r>
              <a:rPr lang="en-US" sz="1800" b="1" dirty="0">
                <a:solidFill>
                  <a:srgbClr val="0F2C59"/>
                </a:solidFill>
              </a:rPr>
              <a:t>Error Response Timing</a:t>
            </a:r>
          </a:p>
          <a:p>
            <a:r>
              <a:rPr lang="en-US" sz="1600" dirty="0"/>
              <a:t>An error response always takes a minimum of two cycles to complete: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Cycle 1: HRESP = ERROR, HREADY = 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Cycle 2: HRESP = ERROR, HREADY = HIGH, signaling the transfer is done.</a:t>
            </a:r>
          </a:p>
          <a:p>
            <a:r>
              <a:rPr lang="en-US" sz="1600" dirty="0"/>
              <a:t>This gives the master and any pipelined slaves time to safely cancel the remaining transfers in a burst.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67" y="3997061"/>
            <a:ext cx="10768614" cy="221963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F2C59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57200" y="137160"/>
            <a:ext cx="42370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Data Buses: HWDATA and HRDATA</a:t>
            </a:r>
            <a:endParaRPr sz="2600" b="1" dirty="0">
              <a:solidFill>
                <a:schemeClr val="bg1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548640" y="1190906"/>
            <a:ext cx="11094720" cy="5209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sz="1800" b="1" dirty="0">
                <a:solidFill>
                  <a:srgbClr val="0F2C59"/>
                </a:solidFill>
              </a:rPr>
              <a:t>Overview</a:t>
            </a:r>
          </a:p>
          <a:p>
            <a:r>
              <a:rPr lang="en-US" sz="1600" dirty="0"/>
              <a:t>AHB-Lite implements separate read and write data buses. HWDATA carries data driven by the master to the selected slave; HRDATA carries data driven back by the slave to the master. Both are commonly implemented as 32-bit buses, but any width the protocol allows can be used.</a:t>
            </a:r>
          </a:p>
          <a:p>
            <a:endParaRPr lang="en-US" sz="400" dirty="0"/>
          </a:p>
          <a:p>
            <a:r>
              <a:rPr lang="en-US" sz="1800" b="1" dirty="0">
                <a:solidFill>
                  <a:srgbClr val="0F2C59"/>
                </a:solidFill>
              </a:rPr>
              <a:t>[1] HWDATA</a:t>
            </a:r>
          </a:p>
          <a:p>
            <a:r>
              <a:rPr lang="en-US" sz="1600" dirty="0"/>
              <a:t>Write data driven by the master. If HREADY is LOW, the slave keeps waiting and HWDATA is held stable until the write completes.</a:t>
            </a:r>
          </a:p>
          <a:p>
            <a:endParaRPr lang="en-US" sz="400" dirty="0"/>
          </a:p>
          <a:p>
            <a:r>
              <a:rPr lang="en-US" sz="1800" b="1" dirty="0">
                <a:solidFill>
                  <a:srgbClr val="0F2C59"/>
                </a:solidFill>
              </a:rPr>
              <a:t>[2] HRDATA</a:t>
            </a:r>
          </a:p>
          <a:p>
            <a:r>
              <a:rPr lang="en-US" sz="1600" dirty="0"/>
              <a:t>Read data driven by the selected slave back to the master once the transfer completes.</a:t>
            </a:r>
          </a:p>
          <a:p>
            <a:endParaRPr lang="en-US" sz="400" dirty="0"/>
          </a:p>
          <a:p>
            <a:r>
              <a:rPr lang="en-US" sz="1800" b="1" dirty="0">
                <a:solidFill>
                  <a:srgbClr val="0F2C59"/>
                </a:solidFill>
              </a:rPr>
              <a:t>Byte Lane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HSIZE indicates the transfer size (byte, halfword, word, and so 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HADDR[1:0], together with HSIZE, selects which byte lane of the 32-bit word is active: Byte0, Byte1, Byte2, or Byte3.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receiving side, master for HRDATA and slave for HWDATA, is responsible for reading or placing data in the correct byte lane.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F2C59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57200" y="137160"/>
            <a:ext cx="42370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Data Bus Width</a:t>
            </a:r>
            <a:endParaRPr sz="2600" b="1" dirty="0">
              <a:solidFill>
                <a:schemeClr val="bg1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548640" y="1190906"/>
            <a:ext cx="11094720" cy="5209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sz="1800" b="1" dirty="0">
                <a:solidFill>
                  <a:srgbClr val="0F2C59"/>
                </a:solidFill>
              </a:rPr>
              <a:t>Overview</a:t>
            </a:r>
          </a:p>
          <a:p>
            <a:r>
              <a:rPr lang="en-US" sz="1600" dirty="0"/>
              <a:t>One method to improve bus bandwidth without increasing the operating frequency is to make the on-chip data path wider. Increased metal layers and the use of large on-chip memory blocks, such as embedded DRAM, are driving factors that encourage wider on-chip buses.</a:t>
            </a:r>
          </a:p>
          <a:p>
            <a:endParaRPr lang="en-US" sz="400" dirty="0"/>
          </a:p>
          <a:p>
            <a:r>
              <a:rPr lang="en-US" sz="1800" b="1" dirty="0">
                <a:solidFill>
                  <a:srgbClr val="0F2C59"/>
                </a:solidFill>
              </a:rPr>
              <a:t>Allowed Bus Widths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AHB-Lite data bus can be 8, 16, 32, 64, 128, 256, 512, or 1024 bits wide.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Recommended minimum bus width: 32 bits. A maximum of 256 bits is adequate for almost all applications.</a:t>
            </a:r>
          </a:p>
          <a:p>
            <a:endParaRPr lang="en-US" sz="400" dirty="0"/>
          </a:p>
          <a:p>
            <a:r>
              <a:rPr lang="en-US" sz="1800" b="1" dirty="0">
                <a:solidFill>
                  <a:srgbClr val="0F2C59"/>
                </a:solidFill>
              </a:rPr>
              <a:t>Byte Lane Rule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read and write transfers, the receiving module must select the data from the correct byte lane on the bus.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Replication of data across all byte lanes is not required.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F2C59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57200" y="137160"/>
            <a:ext cx="42370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Narrow Slave on a Wide Bus</a:t>
            </a:r>
            <a:endParaRPr sz="2600" b="1" dirty="0">
              <a:solidFill>
                <a:schemeClr val="bg1"/>
              </a:solidFill>
            </a:endParaRPr>
          </a:p>
        </p:txBody>
      </p:sp>
      <p:pic>
        <p:nvPicPr>
          <p:cNvPr id="3" name="Figure 6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174" y="1447059"/>
            <a:ext cx="6250000" cy="3684233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307731" y="1190906"/>
            <a:ext cx="5416061" cy="5209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sz="1800" b="1" dirty="0">
                <a:solidFill>
                  <a:srgbClr val="0F2C59"/>
                </a:solidFill>
              </a:rPr>
              <a:t>Overview</a:t>
            </a:r>
          </a:p>
          <a:p>
            <a:r>
              <a:rPr lang="en-US" sz="1600" dirty="0"/>
              <a:t>A slave module originally designed for a 32-bit data bus can be converted to operate on a 64-bit bus by adding external logic only, with no internal design changes. This makes the technique applicable to hard macrocells.</a:t>
            </a:r>
          </a:p>
          <a:p>
            <a:endParaRPr lang="en-US" sz="400" dirty="0"/>
          </a:p>
          <a:p>
            <a:r>
              <a:rPr lang="en-US" sz="1800" b="1" dirty="0">
                <a:solidFill>
                  <a:srgbClr val="0F2C59"/>
                </a:solidFill>
              </a:rPr>
              <a:t>Handling the Output</a:t>
            </a:r>
          </a:p>
          <a:p>
            <a:r>
              <a:rPr lang="en-US" sz="1600" dirty="0"/>
              <a:t>When converting a narrow bus to a wider bus, do one of the following: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Replicate the data on both halves of the wide bus.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 additional logic so only the appropriate half of the bus changes, which reduces power consumption.</a:t>
            </a:r>
          </a:p>
          <a:p>
            <a:endParaRPr lang="en-US" sz="400" dirty="0"/>
          </a:p>
          <a:p>
            <a:r>
              <a:rPr lang="en-US" sz="1800" b="1" dirty="0">
                <a:solidFill>
                  <a:srgbClr val="0F2C59"/>
                </a:solidFill>
              </a:rPr>
              <a:t>Note</a:t>
            </a:r>
          </a:p>
          <a:p>
            <a:r>
              <a:rPr lang="en-US" sz="1600" dirty="0"/>
              <a:t>A slave can only accept transfers as wide as its natural interface. If a master attempts a wider transfer than the slave supports, the slave returns the ERROR response.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F2C59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57200" y="137160"/>
            <a:ext cx="42370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Wide Slave on a Narrow Bus</a:t>
            </a:r>
            <a:endParaRPr sz="2600" b="1" dirty="0">
              <a:solidFill>
                <a:schemeClr val="bg1"/>
              </a:solidFill>
            </a:endParaRPr>
          </a:p>
        </p:txBody>
      </p:sp>
      <p:pic>
        <p:nvPicPr>
          <p:cNvPr id="3" name="Figure 6-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557" y="1660123"/>
            <a:ext cx="6276208" cy="3870665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307731" y="1190906"/>
            <a:ext cx="5416061" cy="5209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sz="1800" b="1" dirty="0">
                <a:solidFill>
                  <a:srgbClr val="0F2C59"/>
                </a:solidFill>
              </a:rPr>
              <a:t>Overview</a:t>
            </a:r>
          </a:p>
          <a:p>
            <a:r>
              <a:rPr lang="en-US" sz="1600" dirty="0"/>
              <a:t>Predesigned or imported slaves can be adapted to work with a narrower data bus by using external logic. Figure 6-2 shows a wide slave being implemented on a narrower bus.</a:t>
            </a:r>
          </a:p>
          <a:p>
            <a:endParaRPr lang="en-US" sz="400" dirty="0"/>
          </a:p>
          <a:p>
            <a:r>
              <a:rPr lang="en-US" sz="1800" b="1" dirty="0">
                <a:solidFill>
                  <a:srgbClr val="0F2C59"/>
                </a:solidFill>
              </a:rPr>
              <a:t>How It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slave still drives its full-width RDATA output internally.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multiplexer, controlled by a registered HADDR[2] (captured on HCLK when HREADY is asserted), selects the correct half of RDATA.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selected half is driven out as the narrow HRDATA[31:0] bus.</a:t>
            </a:r>
          </a:p>
          <a:p>
            <a:endParaRPr lang="en-US" sz="400" dirty="0"/>
          </a:p>
          <a:p>
            <a:r>
              <a:rPr lang="en-US" sz="1800" b="1" dirty="0">
                <a:solidFill>
                  <a:srgbClr val="0F2C59"/>
                </a:solidFill>
              </a:rPr>
              <a:t>Write Data</a:t>
            </a:r>
          </a:p>
          <a:p>
            <a:r>
              <a:rPr lang="en-US" sz="1600" dirty="0"/>
              <a:t>HWDATA[31:0] on the narrow bus is duplicated onto both halves of the wide slave’s write data input, HWDATA[63:32] and HWDATA[31:0].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F2C59"/>
          </a:solidFill>
          <a:ln>
            <a:solidFill>
              <a:srgbClr val="0F2C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57200" y="137160"/>
            <a:ext cx="42370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Implementing a Master on a Wide Bus</a:t>
            </a:r>
            <a:endParaRPr sz="2600" b="1" dirty="0">
              <a:solidFill>
                <a:schemeClr val="bg1"/>
              </a:solidFill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548640" y="1190906"/>
            <a:ext cx="11094720" cy="5209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en-US" sz="1800" b="1" dirty="0">
                <a:solidFill>
                  <a:srgbClr val="0F2C59"/>
                </a:solidFill>
              </a:rPr>
              <a:t>Overview</a:t>
            </a:r>
          </a:p>
          <a:p>
            <a:r>
              <a:rPr lang="en-US" sz="1600" dirty="0"/>
              <a:t>Masters can be modified to work on a wider bus than they were originally designed for, using the same technique applied to slaves.</a:t>
            </a:r>
          </a:p>
          <a:p>
            <a:endParaRPr lang="en-US" sz="400" dirty="0"/>
          </a:p>
          <a:p>
            <a:r>
              <a:rPr lang="en-US" sz="1800" b="1" dirty="0">
                <a:solidFill>
                  <a:srgbClr val="0F2C59"/>
                </a:solidFill>
              </a:rPr>
              <a:t>How to Do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Multiplex the input bus.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Replicate the output bus.</a:t>
            </a:r>
          </a:p>
          <a:p>
            <a:endParaRPr lang="en-US" sz="400" dirty="0"/>
          </a:p>
          <a:p>
            <a:r>
              <a:rPr lang="en-US" sz="1800" b="1" dirty="0">
                <a:solidFill>
                  <a:srgbClr val="0F2C59"/>
                </a:solidFill>
              </a:rPr>
              <a:t>Note</a:t>
            </a:r>
          </a:p>
          <a:p>
            <a:r>
              <a:rPr lang="en-US" sz="1600" dirty="0"/>
              <a:t>You cannot make a master work on a narrower bus than it was originally intended for unless the master includes a mechanism to limit the width of the transfers it attempts. The master must never attempt a transfer where the width, as indicated by HSIZE, is wider than the data bus it connects to.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1581</Words>
  <Application>Microsoft Office PowerPoint</Application>
  <PresentationFormat>Widescreen</PresentationFormat>
  <Paragraphs>168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Default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asalah</dc:creator>
  <cp:lastModifiedBy>Amr Soliman</cp:lastModifiedBy>
  <cp:revision>11</cp:revision>
  <dcterms:created xsi:type="dcterms:W3CDTF">2018-02-11T07:45:12Z</dcterms:created>
  <dcterms:modified xsi:type="dcterms:W3CDTF">2026-07-20T22:43:45Z</dcterms:modified>
</cp:coreProperties>
</file>