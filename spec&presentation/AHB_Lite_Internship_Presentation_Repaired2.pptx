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4.png" ContentType="image/png"/>
  <Override PartName="/ppt/media/image3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1932478-8FC1-42C0-B9C6-D1ED20F236E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4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<Relationship Id="rId4" Type="http://schemas.openxmlformats.org/officeDocument/2006/relationships/image" Target="../media/image4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d log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00B78C01-0553-4257-ABF7-8F21C946A0D0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Google Shape;87;p19" descr=""/>
          <p:cNvPicPr/>
          <p:nvPr/>
        </p:nvPicPr>
        <p:blipFill>
          <a:blip r:embed="rId3"/>
          <a:stretch/>
        </p:blipFill>
        <p:spPr>
          <a:xfrm>
            <a:off x="3785760" y="2804760"/>
            <a:ext cx="4620240" cy="124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Google Shape;88;p19"/>
          <p:cNvSpPr/>
          <p:nvPr/>
        </p:nvSpPr>
        <p:spPr>
          <a:xfrm>
            <a:off x="0" y="6135840"/>
            <a:ext cx="12191760" cy="721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E6AFF75-AA03-4DEE-941D-A68D6310D81F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Google Shape;40;p10" descr=""/>
          <p:cNvPicPr/>
          <p:nvPr/>
        </p:nvPicPr>
        <p:blipFill>
          <a:blip r:embed="rId3"/>
          <a:srcRect l="0" t="70973" r="0" b="0"/>
          <a:stretch/>
        </p:blipFill>
        <p:spPr>
          <a:xfrm>
            <a:off x="0" y="2021760"/>
            <a:ext cx="12191760" cy="253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Google Shape;41;p10"/>
          <p:cNvSpPr/>
          <p:nvPr/>
        </p:nvSpPr>
        <p:spPr>
          <a:xfrm>
            <a:off x="0" y="2021760"/>
            <a:ext cx="12191760" cy="2539800"/>
          </a:xfrm>
          <a:prstGeom prst="rect">
            <a:avLst/>
          </a:prstGeom>
          <a:gradFill rotWithShape="0">
            <a:gsLst>
              <a:gs pos="0">
                <a:srgbClr val="15559f"/>
              </a:gs>
              <a:gs pos="50000">
                <a:srgbClr val="15559f"/>
              </a:gs>
              <a:gs pos="70000">
                <a:srgbClr val="15559f">
                  <a:alpha val="80000"/>
                </a:srgbClr>
              </a:gs>
              <a:gs pos="80000">
                <a:srgbClr val="15559f">
                  <a:alpha val="60000"/>
                </a:srgbClr>
              </a:gs>
              <a:gs pos="90000">
                <a:srgbClr val="15559f">
                  <a:alpha val="40000"/>
                </a:srgbClr>
              </a:gs>
              <a:gs pos="100000">
                <a:srgbClr val="15559f">
                  <a:alpha val="2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010240"/>
            <a:ext cx="10384200" cy="12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3430800"/>
            <a:ext cx="10384200" cy="111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olumn Subtitle Gray B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EF5FC20-B214-4D26-93E5-C19B348F08DA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67;p16"/>
          <p:cNvSpPr/>
          <p:nvPr/>
        </p:nvSpPr>
        <p:spPr>
          <a:xfrm>
            <a:off x="0" y="1434240"/>
            <a:ext cx="12191760" cy="49374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body"/>
          </p:nvPr>
        </p:nvSpPr>
        <p:spPr>
          <a:xfrm>
            <a:off x="609480" y="1476000"/>
            <a:ext cx="3565800" cy="48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016120" y="1476000"/>
            <a:ext cx="3565800" cy="48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312800" y="1476000"/>
            <a:ext cx="3565800" cy="48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609480" y="1005840"/>
            <a:ext cx="10972440" cy="36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 Gra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C371A0C-DFFD-42C4-86CC-DBBE4E78D8AF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61;p15"/>
          <p:cNvSpPr/>
          <p:nvPr/>
        </p:nvSpPr>
        <p:spPr>
          <a:xfrm>
            <a:off x="0" y="1434240"/>
            <a:ext cx="12191760" cy="49374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609480" y="1470240"/>
            <a:ext cx="5384520" cy="484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197760" y="1470240"/>
            <a:ext cx="5384520" cy="484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1005840"/>
            <a:ext cx="10972440" cy="36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V Title Slide">
    <p:bg>
      <p:bgPr>
        <a:gradFill rotWithShape="0">
          <a:gsLst>
            <a:gs pos="0">
              <a:srgbClr val="f4f8fb"/>
            </a:gs>
            <a:gs pos="52000">
              <a:srgbClr val="ffff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74609810-E0F5-44F2-A64D-9FEFD89A86E9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Google Shape;17;p4" descr=""/>
          <p:cNvPicPr/>
          <p:nvPr/>
        </p:nvPicPr>
        <p:blipFill>
          <a:blip r:embed="rId3"/>
          <a:srcRect l="0" t="37257" r="0" b="3"/>
          <a:stretch/>
        </p:blipFill>
        <p:spPr>
          <a:xfrm>
            <a:off x="0" y="1366200"/>
            <a:ext cx="12191760" cy="549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Google Shape;18;p4"/>
          <p:cNvSpPr/>
          <p:nvPr/>
        </p:nvSpPr>
        <p:spPr>
          <a:xfrm>
            <a:off x="0" y="0"/>
            <a:ext cx="12191760" cy="15026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Google Shape;19;p4" descr=""/>
          <p:cNvPicPr/>
          <p:nvPr/>
        </p:nvPicPr>
        <p:blipFill>
          <a:blip r:embed="rId4"/>
          <a:srcRect l="0" t="28192" r="0" b="35479"/>
          <a:stretch/>
        </p:blipFill>
        <p:spPr>
          <a:xfrm>
            <a:off x="7819560" y="154080"/>
            <a:ext cx="4456080" cy="134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06120" y="1478880"/>
            <a:ext cx="7492680" cy="93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906120" y="3045600"/>
            <a:ext cx="7491240" cy="73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906120" y="3799080"/>
            <a:ext cx="7491240" cy="39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olumn Sub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34F81C6A-5D9D-4B5E-909F-64587980803E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body"/>
          </p:nvPr>
        </p:nvSpPr>
        <p:spPr>
          <a:xfrm>
            <a:off x="609480" y="1493640"/>
            <a:ext cx="3565800" cy="48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016120" y="1493640"/>
            <a:ext cx="3565800" cy="48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312800" y="1493640"/>
            <a:ext cx="3565800" cy="48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09480" y="1005840"/>
            <a:ext cx="10972440" cy="36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gradFill rotWithShape="0">
          <a:gsLst>
            <a:gs pos="0">
              <a:srgbClr val="f4f8fb"/>
            </a:gs>
            <a:gs pos="52000">
              <a:srgbClr val="ffff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971C81D8-4169-47A5-813D-E05FBDB9931E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Google Shape;30;p6" descr=""/>
          <p:cNvPicPr/>
          <p:nvPr/>
        </p:nvPicPr>
        <p:blipFill>
          <a:blip r:embed="rId3"/>
          <a:srcRect l="0" t="37257" r="0" b="3"/>
          <a:stretch/>
        </p:blipFill>
        <p:spPr>
          <a:xfrm>
            <a:off x="0" y="1366200"/>
            <a:ext cx="12191760" cy="549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Google Shape;31;p6"/>
          <p:cNvSpPr/>
          <p:nvPr/>
        </p:nvSpPr>
        <p:spPr>
          <a:xfrm>
            <a:off x="0" y="0"/>
            <a:ext cx="12191760" cy="15026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Google Shape;32;p6" descr=""/>
          <p:cNvPicPr/>
          <p:nvPr/>
        </p:nvPicPr>
        <p:blipFill>
          <a:blip r:embed="rId4"/>
          <a:srcRect l="0" t="28192" r="0" b="35479"/>
          <a:stretch/>
        </p:blipFill>
        <p:spPr>
          <a:xfrm>
            <a:off x="7819560" y="154080"/>
            <a:ext cx="4456080" cy="134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06120" y="1478880"/>
            <a:ext cx="7491240" cy="93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 Sub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FA8B1C46-DFAD-468C-9580-9C34A2F1AD29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body"/>
          </p:nvPr>
        </p:nvSpPr>
        <p:spPr>
          <a:xfrm>
            <a:off x="609480" y="1502280"/>
            <a:ext cx="5384520" cy="48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197760" y="1502280"/>
            <a:ext cx="5384520" cy="48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1005840"/>
            <a:ext cx="10972440" cy="36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 You">
    <p:bg>
      <p:bgPr>
        <a:gradFill rotWithShape="0">
          <a:gsLst>
            <a:gs pos="0">
              <a:srgbClr val="f4f8fb"/>
            </a:gs>
            <a:gs pos="52000">
              <a:srgbClr val="ffff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5242CC3-21EE-4528-B22C-8570B72B1883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Google Shape;82;p18" descr=""/>
          <p:cNvPicPr/>
          <p:nvPr/>
        </p:nvPicPr>
        <p:blipFill>
          <a:blip r:embed="rId3"/>
          <a:srcRect l="0" t="37257" r="0" b="3"/>
          <a:stretch/>
        </p:blipFill>
        <p:spPr>
          <a:xfrm>
            <a:off x="0" y="1366200"/>
            <a:ext cx="12191760" cy="549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Google Shape;83;p18"/>
          <p:cNvSpPr/>
          <p:nvPr/>
        </p:nvSpPr>
        <p:spPr>
          <a:xfrm>
            <a:off x="0" y="0"/>
            <a:ext cx="12191760" cy="15026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Google Shape;84;p18" descr=""/>
          <p:cNvPicPr/>
          <p:nvPr/>
        </p:nvPicPr>
        <p:blipFill>
          <a:blip r:embed="rId4"/>
          <a:srcRect l="0" t="28192" r="0" b="35479"/>
          <a:stretch/>
        </p:blipFill>
        <p:spPr>
          <a:xfrm>
            <a:off x="7819560" y="154080"/>
            <a:ext cx="4456080" cy="134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oogle Shape;85;p18"/>
          <p:cNvSpPr/>
          <p:nvPr/>
        </p:nvSpPr>
        <p:spPr>
          <a:xfrm>
            <a:off x="1360800" y="1832400"/>
            <a:ext cx="43632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Gray B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0AC1634E-94A8-4C54-B018-884688B89C40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56;p14"/>
          <p:cNvSpPr/>
          <p:nvPr/>
        </p:nvSpPr>
        <p:spPr>
          <a:xfrm>
            <a:off x="0" y="1434240"/>
            <a:ext cx="12191760" cy="49374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body"/>
          </p:nvPr>
        </p:nvSpPr>
        <p:spPr>
          <a:xfrm>
            <a:off x="609480" y="1476000"/>
            <a:ext cx="10972440" cy="48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09480" y="1005840"/>
            <a:ext cx="10972440" cy="36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2215348-80B0-4C1B-BB93-B7553DC67BAE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Content Subtitle Gray B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A8CBF811-0B6B-40DA-A437-7F0D9D1BA40B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74;p17"/>
          <p:cNvSpPr/>
          <p:nvPr/>
        </p:nvSpPr>
        <p:spPr>
          <a:xfrm>
            <a:off x="0" y="1434240"/>
            <a:ext cx="12191760" cy="49374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body"/>
          </p:nvPr>
        </p:nvSpPr>
        <p:spPr>
          <a:xfrm>
            <a:off x="609480" y="1458720"/>
            <a:ext cx="5376240" cy="237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197760" y="1458720"/>
            <a:ext cx="5376240" cy="237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09480" y="3972240"/>
            <a:ext cx="5376240" cy="237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197760" y="3972240"/>
            <a:ext cx="5376240" cy="237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body"/>
          </p:nvPr>
        </p:nvSpPr>
        <p:spPr>
          <a:xfrm>
            <a:off x="609480" y="1005840"/>
            <a:ext cx="10972440" cy="36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ub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AEB3706-5F53-4DE1-98F3-E810D8256058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7244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484640"/>
            <a:ext cx="10972440" cy="48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09480" y="1005840"/>
            <a:ext cx="10972440" cy="36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ut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2;p3" descr=""/>
          <p:cNvPicPr/>
          <p:nvPr/>
        </p:nvPicPr>
        <p:blipFill>
          <a:blip r:embed="rId2"/>
          <a:srcRect l="0" t="28207" r="0" b="35471"/>
          <a:stretch/>
        </p:blipFill>
        <p:spPr>
          <a:xfrm>
            <a:off x="249480" y="6291000"/>
            <a:ext cx="1421640" cy="43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Google Shape;13;p3"/>
          <p:cNvSpPr/>
          <p:nvPr/>
        </p:nvSpPr>
        <p:spPr>
          <a:xfrm>
            <a:off x="1581840" y="6356520"/>
            <a:ext cx="1881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© 2025 Si-Vision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4;p3"/>
          <p:cNvSpPr/>
          <p:nvPr/>
        </p:nvSpPr>
        <p:spPr>
          <a:xfrm>
            <a:off x="4174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Si-Vision Confidential Information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5;p3"/>
          <p:cNvSpPr/>
          <p:nvPr/>
        </p:nvSpPr>
        <p:spPr>
          <a:xfrm>
            <a:off x="10613880" y="6431040"/>
            <a:ext cx="968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497E3A91-9F7B-4A5C-9467-19993DE66DC4}" type="slidenum">
              <a:rPr b="0" lang="en-US" sz="1200" strike="noStrike" u="none">
                <a:solidFill>
                  <a:srgbClr val="7f7f7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36;p9"/>
          <p:cNvSpPr/>
          <p:nvPr/>
        </p:nvSpPr>
        <p:spPr>
          <a:xfrm>
            <a:off x="0" y="1215360"/>
            <a:ext cx="12191760" cy="1294920"/>
          </a:xfrm>
          <a:prstGeom prst="rect">
            <a:avLst/>
          </a:prstGeom>
          <a:solidFill>
            <a:srgbClr val="15559f"/>
          </a:solidFill>
          <a:ln w="25400">
            <a:solidFill>
              <a:srgbClr val="395e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12952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1523880" y="2688480"/>
            <a:ext cx="10058040" cy="355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06120" y="1478880"/>
            <a:ext cx="7492680" cy="93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AHB-Lite Implementation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906120" y="2410920"/>
            <a:ext cx="7491240" cy="62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5568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Internship Project Summary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906120" y="3045600"/>
            <a:ext cx="7491240" cy="73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marL="457200" indent="-2286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RTL Design, System Integration &amp; Verification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906120" y="3799080"/>
            <a:ext cx="7491240" cy="39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609480" y="399960"/>
            <a:ext cx="10096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8000"/>
              </a:lnSpc>
            </a:pPr>
            <a:r>
              <a:rPr b="1" lang="en-US" sz="25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Internship Journey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28560" y="990720"/>
            <a:ext cx="9905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From RTL fundamentals to complete AHB-Lite system verification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09480" y="1352520"/>
            <a:ext cx="10972800" cy="360"/>
          </a:xfrm>
          <a:prstGeom prst="line">
            <a:avLst/>
          </a:prstGeom>
          <a:ln w="9525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781200" y="2705040"/>
            <a:ext cx="1923840" cy="112356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895320" y="2809800"/>
            <a:ext cx="1695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RTL Foundations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914400" y="3086280"/>
            <a:ext cx="16570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13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Principles of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3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VLSI RTL Design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3429000" y="2705040"/>
            <a:ext cx="1923840" cy="112356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3543480" y="2809800"/>
            <a:ext cx="1695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CRC-FCS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3562200" y="3086280"/>
            <a:ext cx="16570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Skill-building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RTL project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076800" y="2705040"/>
            <a:ext cx="1923840" cy="112356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191280" y="2809800"/>
            <a:ext cx="1695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AHB-Lite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210360" y="3086280"/>
            <a:ext cx="16570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13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Individual master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3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and slave design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8724960" y="2705040"/>
            <a:ext cx="1923840" cy="112356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8839080" y="2809800"/>
            <a:ext cx="1695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Integration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8858160" y="3086280"/>
            <a:ext cx="16570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Pipelined MIPS, UART,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RAM &amp; system tests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2705040" y="3267000"/>
            <a:ext cx="72396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352840" y="3267000"/>
            <a:ext cx="72396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8001000" y="3267000"/>
            <a:ext cx="72360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781200" y="4114800"/>
            <a:ext cx="1923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1" lang="en-US" sz="120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Learning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429000" y="4114800"/>
            <a:ext cx="1923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1" lang="en-US" sz="120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Practice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076800" y="4114800"/>
            <a:ext cx="1923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1" lang="en-US" sz="120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Design &amp; Verification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8724960" y="4114800"/>
            <a:ext cx="1923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1" lang="en-US" sz="120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System-Level Work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609480" y="399960"/>
            <a:ext cx="10096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8000"/>
              </a:lnSpc>
            </a:pPr>
            <a:r>
              <a:rPr b="1" lang="en-US" sz="25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RTL Design Foundation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28560" y="990720"/>
            <a:ext cx="9905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0" lang="en-US" sz="12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Study before implementation work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09480" y="1352520"/>
            <a:ext cx="10972800" cy="360"/>
          </a:xfrm>
          <a:prstGeom prst="line">
            <a:avLst/>
          </a:prstGeom>
          <a:ln w="9525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914400" y="1924200"/>
            <a:ext cx="3047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REFERENCE STUDY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914400" y="2305080"/>
            <a:ext cx="3924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Principles of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VLSI RTL Design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352840" y="2038320"/>
            <a:ext cx="360" cy="2743200"/>
          </a:xfrm>
          <a:prstGeom prst="line">
            <a:avLst/>
          </a:prstGeom>
          <a:ln w="14288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943600" y="1924200"/>
            <a:ext cx="266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APPLICATION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943600" y="2381400"/>
            <a:ext cx="4533480" cy="15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54160" indent="-127080">
              <a:lnSpc>
                <a:spcPct val="108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58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Studied RTL design principles before starting the implementation projects.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>
              <a:lnSpc>
                <a:spcPct val="108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58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Used the learning as the foundation for the CRC-FCS and AHB-Lite work.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914400" y="4572000"/>
            <a:ext cx="95626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8000"/>
              </a:lnSpc>
            </a:pPr>
            <a:r>
              <a:rPr b="0" lang="en-US" sz="150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The study established the starting point for the internship design work.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609480" y="399960"/>
            <a:ext cx="10096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8000"/>
              </a:lnSpc>
            </a:pPr>
            <a:r>
              <a:rPr b="1" lang="en-US" sz="25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CRC-FCS Skill-Building Project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28560" y="990720"/>
            <a:ext cx="9905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0" lang="en-US" sz="12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A focused RTL design exercise before tackling AHB-Lite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09480" y="1352520"/>
            <a:ext cx="10972800" cy="360"/>
          </a:xfrm>
          <a:prstGeom prst="line">
            <a:avLst/>
          </a:prstGeom>
          <a:ln w="9525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914400" y="1762200"/>
            <a:ext cx="9715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>
              <a:lnSpc>
                <a:spcPct val="108000"/>
              </a:lnSpc>
            </a:pPr>
            <a:r>
              <a:rPr b="0" lang="en-US" sz="158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The CRC-FCS project provided a contained design task to practice the RTL skills developed during the initial learning phase.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257480" y="2857680"/>
            <a:ext cx="2095200" cy="100944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371600" y="2962440"/>
            <a:ext cx="1866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50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Input Data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1390680" y="3238560"/>
            <a:ext cx="18284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Data presented to the CRC-FCS logic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5048280" y="2629080"/>
            <a:ext cx="2400120" cy="1466640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5162400" y="2733840"/>
            <a:ext cx="2171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58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CRC-FCS Logic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181480" y="3009960"/>
            <a:ext cx="213336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13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RTL design and processing of the CRC/FCS function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9144000" y="2857680"/>
            <a:ext cx="2095200" cy="100944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9258480" y="2962440"/>
            <a:ext cx="1866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50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FCS Result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9277200" y="3238560"/>
            <a:ext cx="18284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Generated or checked frame value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352680" y="3362040"/>
            <a:ext cx="169524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7448400" y="3362040"/>
            <a:ext cx="169560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2381400" y="4629240"/>
            <a:ext cx="7429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8000"/>
              </a:lnSpc>
            </a:pPr>
            <a:r>
              <a:rPr b="0" lang="en-US" sz="143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Practice objective: turn design knowledge into a complete RTL project.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609480" y="399960"/>
            <a:ext cx="10096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8000"/>
              </a:lnSpc>
            </a:pPr>
            <a:r>
              <a:rPr b="1" lang="en-US" sz="25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Individual AHB-Lite Design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28560" y="990720"/>
            <a:ext cx="9905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0" lang="en-US" sz="12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Designed the master and slave blocks independently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09480" y="1352520"/>
            <a:ext cx="10972800" cy="360"/>
          </a:xfrm>
          <a:prstGeom prst="line">
            <a:avLst/>
          </a:prstGeom>
          <a:ln w="9525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1162080" y="2685960"/>
            <a:ext cx="2666520" cy="139032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276200" y="2790720"/>
            <a:ext cx="2437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729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AHB-Lite Master</a:t>
            </a:r>
            <a:endParaRPr b="0" lang="en-US" sz="17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1295280" y="3067200"/>
            <a:ext cx="240012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20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Drives address, control, and write-data signals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8362800" y="2685960"/>
            <a:ext cx="2666520" cy="139032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8477280" y="2790720"/>
            <a:ext cx="2437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729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AHB-Lite Slave</a:t>
            </a:r>
            <a:endParaRPr b="0" lang="en-US" sz="172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8496360" y="3067200"/>
            <a:ext cx="240012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20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Accepts selected transfers and returns response / read data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4686480" y="2419200"/>
            <a:ext cx="2819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AHB-Lite Transfer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4343400" y="2895480"/>
            <a:ext cx="3504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1" lang="en-US" sz="11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HADDR   HWRITE   HWDATA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4343400" y="3638520"/>
            <a:ext cx="3504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1" lang="en-US" sz="11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HRDATA   HREADY   HRESP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3828960" y="3381120"/>
            <a:ext cx="453384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9696240" y="4076640"/>
            <a:ext cx="36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2495520" y="4076640"/>
            <a:ext cx="720072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2495520" y="4076640"/>
            <a:ext cx="36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600200" y="4724280"/>
            <a:ext cx="8991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8000"/>
              </a:lnSpc>
            </a:pPr>
            <a:r>
              <a:rPr b="0" lang="en-US" sz="143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The design work established the bus interface before the system-level integration stage.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>
            <a:off x="609480" y="399960"/>
            <a:ext cx="10096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8000"/>
              </a:lnSpc>
            </a:pPr>
            <a:r>
              <a:rPr b="1" lang="en-US" sz="25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AHB-Lite Verification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28560" y="990720"/>
            <a:ext cx="9905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0" lang="en-US" sz="12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Transfer sequences and protocol conditions covered during testing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609480" y="1352520"/>
            <a:ext cx="10972800" cy="360"/>
          </a:xfrm>
          <a:prstGeom prst="line">
            <a:avLst/>
          </a:prstGeom>
          <a:ln w="9525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1066680" y="1943280"/>
            <a:ext cx="3428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TRANSACTION SEQUENCES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1066680" y="2324160"/>
            <a:ext cx="4171680" cy="17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54160" indent="-127080">
              <a:lnSpc>
                <a:spcPct val="108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Single write and single read transfers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>
              <a:lnSpc>
                <a:spcPct val="108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INCR4 burst write and read transfers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>
              <a:lnSpc>
                <a:spcPct val="108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Back-to-back write and read transfers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5981400" y="1981080"/>
            <a:ext cx="360" cy="2238480"/>
          </a:xfrm>
          <a:prstGeom prst="line">
            <a:avLst/>
          </a:prstGeom>
          <a:ln w="14288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743880" y="1943280"/>
            <a:ext cx="3047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PROTOCOL CONDITIONS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743880" y="2324160"/>
            <a:ext cx="3447720" cy="13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54160" indent="-127080">
              <a:lnSpc>
                <a:spcPct val="108000"/>
              </a:lnSpc>
              <a:spcAft>
                <a:spcPts val="150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Wait-state handling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127080">
              <a:lnSpc>
                <a:spcPct val="108000"/>
              </a:lnSpc>
              <a:spcAft>
                <a:spcPts val="150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Error-response handling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714680" y="4762440"/>
            <a:ext cx="87627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8000"/>
              </a:lnSpc>
            </a:pPr>
            <a:r>
              <a:rPr b="1" lang="en-US" sz="150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Test focus: transfer sequencing, data movement, and response handling.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609480" y="399960"/>
            <a:ext cx="10096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8000"/>
              </a:lnSpc>
            </a:pPr>
            <a:r>
              <a:rPr b="1" lang="en-US" sz="25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Team Integration Architecture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28560" y="990720"/>
            <a:ext cx="9905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0" lang="en-US" sz="12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Pipelined MIPS controlled AHB-Lite transactions in the larger system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609480" y="1352520"/>
            <a:ext cx="10972800" cy="360"/>
          </a:xfrm>
          <a:prstGeom prst="line">
            <a:avLst/>
          </a:prstGeom>
          <a:ln w="9525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876240" y="1714680"/>
            <a:ext cx="2190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AHB CLOCK DOMAIN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8810640" y="1714680"/>
            <a:ext cx="23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UART CLOCK DOMAIN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819000" y="2476440"/>
            <a:ext cx="1638000" cy="100944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933480" y="2581200"/>
            <a:ext cx="1409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Pipelined MIPS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952560" y="2857680"/>
            <a:ext cx="13712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System controller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3009960" y="2476440"/>
            <a:ext cx="1638000" cy="100944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3124080" y="2581200"/>
            <a:ext cx="14094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AHB Master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3143160" y="2857680"/>
            <a:ext cx="13712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User design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5543640" y="2476440"/>
            <a:ext cx="1809360" cy="100944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5657760" y="258120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UART-Facing Slave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5676840" y="2857680"/>
            <a:ext cx="15426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Team integration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8248680" y="2286000"/>
            <a:ext cx="1828440" cy="119988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8362800" y="2390760"/>
            <a:ext cx="1599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Asynchronous FIFO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8381880" y="2666880"/>
            <a:ext cx="156168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Write-data crossing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8724960" y="4019400"/>
            <a:ext cx="1352160" cy="780840"/>
          </a:xfrm>
          <a:prstGeom prst="roundRect">
            <a:avLst>
              <a:gd name="adj" fmla="val 0"/>
            </a:avLst>
          </a:prstGeom>
          <a:solidFill>
            <a:srgbClr val="f5f9fd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8839080" y="4124160"/>
            <a:ext cx="11235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4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UART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8858160" y="4400640"/>
            <a:ext cx="1085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9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Different clock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2457360" y="2981160"/>
            <a:ext cx="55224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4647960" y="2981160"/>
            <a:ext cx="89532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7353000" y="2981160"/>
            <a:ext cx="44784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800840" y="2885760"/>
            <a:ext cx="360" cy="9540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7800840" y="2885760"/>
            <a:ext cx="44748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9162720" y="3485880"/>
            <a:ext cx="360" cy="2667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9162720" y="3752640"/>
            <a:ext cx="23832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9401040" y="3752640"/>
            <a:ext cx="360" cy="2667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8724600" y="3947760"/>
            <a:ext cx="360" cy="462240"/>
          </a:xfrm>
          <a:prstGeom prst="line">
            <a:avLst/>
          </a:prstGeom>
          <a:ln w="16193">
            <a:solidFill>
              <a:srgbClr val="6c9fd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6448320" y="3947760"/>
            <a:ext cx="2276280" cy="360"/>
          </a:xfrm>
          <a:prstGeom prst="line">
            <a:avLst/>
          </a:prstGeom>
          <a:ln w="16193">
            <a:solidFill>
              <a:srgbClr val="6c9fd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6448320" y="3485880"/>
            <a:ext cx="360" cy="461880"/>
          </a:xfrm>
          <a:prstGeom prst="line">
            <a:avLst/>
          </a:prstGeom>
          <a:ln w="16193">
            <a:solidFill>
              <a:srgbClr val="6c9fd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6896160" y="4172040"/>
            <a:ext cx="1352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Read handshake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1371600" y="5219640"/>
            <a:ext cx="9448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8000"/>
              </a:lnSpc>
            </a:pPr>
            <a:r>
              <a:rPr b="0" lang="en-US" sz="13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User master and the team slave came together in the integrated system.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609480" y="399960"/>
            <a:ext cx="10096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8000"/>
              </a:lnSpc>
            </a:pPr>
            <a:r>
              <a:rPr b="1" lang="en-US" sz="25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UART Clock-Domain Crossing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628560" y="990720"/>
            <a:ext cx="9905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0" lang="en-US" sz="12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Asynchronous FIFO for writes and a handshake path for reads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09480" y="1352520"/>
            <a:ext cx="10972800" cy="360"/>
          </a:xfrm>
          <a:prstGeom prst="line">
            <a:avLst/>
          </a:prstGeom>
          <a:ln w="9525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876240" y="1809720"/>
            <a:ext cx="2095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WRITE PATH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876240" y="2209680"/>
            <a:ext cx="1809360" cy="87588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990720" y="231444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4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AHB Write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1009800" y="2590920"/>
            <a:ext cx="15426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AHB clock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3943440" y="2209680"/>
            <a:ext cx="1961640" cy="87588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4057560" y="2314440"/>
            <a:ext cx="1733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4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Async FIFO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4076640" y="2590920"/>
            <a:ext cx="16952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Clock-domain buffer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7162920" y="2209680"/>
            <a:ext cx="1809360" cy="87588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7277040" y="231444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4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UART Write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7296120" y="2590920"/>
            <a:ext cx="15426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UART clock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2685960" y="2647800"/>
            <a:ext cx="125712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5905440" y="2647800"/>
            <a:ext cx="125712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876240" y="3695760"/>
            <a:ext cx="2476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READ NOTIFICATION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876240" y="4114800"/>
            <a:ext cx="1714320" cy="87588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990720" y="4219560"/>
            <a:ext cx="1485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UART Event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1009800" y="4495680"/>
            <a:ext cx="14475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9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Pulse in UART clock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3476520" y="4114800"/>
            <a:ext cx="1790280" cy="87588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3591000" y="4219560"/>
            <a:ext cx="1561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Level Signal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3610080" y="4495680"/>
            <a:ext cx="1523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9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Event held for crossing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153120" y="4114800"/>
            <a:ext cx="1790280" cy="87588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6267600" y="4219560"/>
            <a:ext cx="1561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Synchronization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6286680" y="4495680"/>
            <a:ext cx="1523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9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Captured in AHB clock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8829720" y="4114800"/>
            <a:ext cx="1790280" cy="87588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8943840" y="4219560"/>
            <a:ext cx="1561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AHB Pulse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8962920" y="4495680"/>
            <a:ext cx="1523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9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Read handshake event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2590560" y="4552920"/>
            <a:ext cx="885960" cy="360"/>
          </a:xfrm>
          <a:prstGeom prst="line">
            <a:avLst/>
          </a:prstGeom>
          <a:ln w="18098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5267160" y="4552920"/>
            <a:ext cx="885960" cy="360"/>
          </a:xfrm>
          <a:prstGeom prst="line">
            <a:avLst/>
          </a:prstGeom>
          <a:ln w="18098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7943760" y="4552920"/>
            <a:ext cx="885600" cy="360"/>
          </a:xfrm>
          <a:prstGeom prst="line">
            <a:avLst/>
          </a:prstGeom>
          <a:ln w="18098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>
            <a:off x="609480" y="399960"/>
            <a:ext cx="10096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8000"/>
              </a:lnSpc>
            </a:pPr>
            <a:r>
              <a:rPr b="1" lang="en-US" sz="25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CDC Challenges and Resolution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628560" y="990720"/>
            <a:ext cx="9905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0" lang="en-US" sz="12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Key issues encountered while connecting the UART to the AHB-Lite system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609480" y="1352520"/>
            <a:ext cx="10972800" cy="360"/>
          </a:xfrm>
          <a:prstGeom prst="line">
            <a:avLst/>
          </a:prstGeom>
          <a:ln w="9525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914400" y="18669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FIFO DEPTH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914400" y="2266920"/>
            <a:ext cx="1428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8000"/>
              </a:lnSpc>
            </a:pPr>
            <a:r>
              <a:rPr b="1" lang="en-US" sz="143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Challenge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914400" y="2647800"/>
            <a:ext cx="38095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10000"/>
              </a:lnSpc>
            </a:pPr>
            <a:r>
              <a:rPr b="0" lang="en-US" sz="158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Determine the FIFO depth required for write traffic across the two clock domains.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914400" y="3638520"/>
            <a:ext cx="1523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8000"/>
              </a:lnSpc>
            </a:pPr>
            <a:r>
              <a:rPr b="1" lang="en-US" sz="143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Design focus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914400" y="4019400"/>
            <a:ext cx="380952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10000"/>
              </a:lnSpc>
            </a:pPr>
            <a:r>
              <a:rPr b="0" lang="en-US" sz="150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Evaluate the buffering needed to absorb the difference between the AHB and UART clock domains.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5467320" y="1866600"/>
            <a:ext cx="360" cy="3143520"/>
          </a:xfrm>
          <a:prstGeom prst="line">
            <a:avLst/>
          </a:prstGeom>
          <a:ln w="14288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6267600" y="1866960"/>
            <a:ext cx="333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HANDSHAKE PULSE CROSSING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6267600" y="2266920"/>
            <a:ext cx="1142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8000"/>
              </a:lnSpc>
            </a:pPr>
            <a:r>
              <a:rPr b="1" lang="en-US" sz="143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Issue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6267600" y="2647800"/>
            <a:ext cx="39049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10000"/>
              </a:lnSpc>
            </a:pPr>
            <a:r>
              <a:rPr b="0" lang="en-US" sz="158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A one-cycle UART-clock pulse can be missed in the AHB clock domain.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6267600" y="3562200"/>
            <a:ext cx="1428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8000"/>
              </a:lnSpc>
            </a:pPr>
            <a:r>
              <a:rPr b="1" lang="en-US" sz="143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Resolution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267600" y="3943440"/>
            <a:ext cx="40953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10000"/>
              </a:lnSpc>
            </a:pPr>
            <a:r>
              <a:rPr b="0" lang="en-US" sz="150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Convert the UART pulse to a level, cross the level into the AHB domain, then convert it back to a pulse.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5962680" y="5181480"/>
            <a:ext cx="1123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1" lang="en-US" sz="113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UART pulse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7639200" y="5181480"/>
            <a:ext cx="1123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1" lang="en-US" sz="113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Held level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9315360" y="5181480"/>
            <a:ext cx="1123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1" lang="en-US" sz="113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AHB pulse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7105320" y="5314680"/>
            <a:ext cx="40032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8781840" y="5314680"/>
            <a:ext cx="39996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>
            <a:off x="609480" y="399960"/>
            <a:ext cx="10096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8000"/>
              </a:lnSpc>
            </a:pPr>
            <a:r>
              <a:rPr b="1" lang="en-US" sz="25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Multi-Slave AHB-Lite System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628560" y="990720"/>
            <a:ext cx="9905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0" lang="en-US" sz="12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Address decoder and response multiplexer selected the active target slave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609480" y="1352520"/>
            <a:ext cx="10972800" cy="360"/>
          </a:xfrm>
          <a:prstGeom prst="line">
            <a:avLst/>
          </a:prstGeom>
          <a:ln w="9525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743040" y="3105000"/>
            <a:ext cx="1695240" cy="95220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857160" y="3209760"/>
            <a:ext cx="1466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4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AHB Master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876240" y="3486240"/>
            <a:ext cx="142848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MIPS-controlled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3429000" y="3105000"/>
            <a:ext cx="1866600" cy="95220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3543480" y="3209760"/>
            <a:ext cx="16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4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Address Decoder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3562200" y="3486240"/>
            <a:ext cx="15998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Selects target slave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6400800" y="2228760"/>
            <a:ext cx="1771200" cy="93312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6515280" y="2333520"/>
            <a:ext cx="1542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4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UART Slave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6534000" y="2610000"/>
            <a:ext cx="15044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UART interface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6400800" y="4095720"/>
            <a:ext cx="1771200" cy="93312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515280" y="4200480"/>
            <a:ext cx="1542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4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RAM Slave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534000" y="4476600"/>
            <a:ext cx="15044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Memory interface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9334440" y="3105000"/>
            <a:ext cx="1866600" cy="95220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9448920" y="3209760"/>
            <a:ext cx="16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Response / Data MUX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9468000" y="3486240"/>
            <a:ext cx="15998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Returns selected slave output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2438280" y="3581280"/>
            <a:ext cx="99072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5295600" y="3581280"/>
            <a:ext cx="552600" cy="36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5848200" y="2695320"/>
            <a:ext cx="360" cy="88596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5848200" y="2695320"/>
            <a:ext cx="552600" cy="36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5295600" y="3581280"/>
            <a:ext cx="552600" cy="36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5848200" y="3581280"/>
            <a:ext cx="360" cy="98100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5848200" y="4562280"/>
            <a:ext cx="552600" cy="36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8172360" y="2695320"/>
            <a:ext cx="58104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8753400" y="2695320"/>
            <a:ext cx="360" cy="8859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8753400" y="3581280"/>
            <a:ext cx="58104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8172360" y="4562280"/>
            <a:ext cx="58104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8753400" y="3581280"/>
            <a:ext cx="360" cy="98100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8753400" y="3581280"/>
            <a:ext cx="58104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10267920" y="3105000"/>
            <a:ext cx="36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1590480" y="3105000"/>
            <a:ext cx="867744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1590480" y="3105000"/>
            <a:ext cx="360" cy="360"/>
          </a:xfrm>
          <a:prstGeom prst="line">
            <a:avLst/>
          </a:prstGeom>
          <a:ln w="17145">
            <a:solidFill>
              <a:srgbClr val="6c9f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2476440" y="342900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0" lang="en-US" sz="9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HADDR / control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5372280" y="1962000"/>
            <a:ext cx="2666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8000"/>
              </a:lnSpc>
            </a:pPr>
            <a:r>
              <a:rPr b="0" lang="en-US" sz="9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HRDATA / HREADY / HRESP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1143000" y="5448240"/>
            <a:ext cx="9905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8000"/>
              </a:lnSpc>
            </a:pPr>
            <a:r>
              <a:rPr b="0" lang="en-US" sz="12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The second slave connects to RAM while the existing UART slave remains addressable through the same AHB-Lite system.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>
            <a:off x="609480" y="399960"/>
            <a:ext cx="10096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>
              <a:lnSpc>
                <a:spcPct val="108000"/>
              </a:lnSpc>
            </a:pPr>
            <a:r>
              <a:rPr b="1" lang="en-US" sz="25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System Verification with MIPS Programs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628560" y="990720"/>
            <a:ext cx="9905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0" lang="en-US" sz="128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Instruction memory supplied controlled traffic to the integrated system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609480" y="1352520"/>
            <a:ext cx="10972800" cy="360"/>
          </a:xfrm>
          <a:prstGeom prst="line">
            <a:avLst/>
          </a:prstGeom>
          <a:ln w="9525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704880" y="2343240"/>
            <a:ext cx="1961640" cy="99036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819000" y="2448000"/>
            <a:ext cx="1733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Instruction Memory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838080" y="2724120"/>
            <a:ext cx="16952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Test program instructions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3314880" y="2343240"/>
            <a:ext cx="1733040" cy="99036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3429000" y="2448000"/>
            <a:ext cx="15044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Pipelined MIPS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3448080" y="2724120"/>
            <a:ext cx="1466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Executes program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5695920" y="2343240"/>
            <a:ext cx="1866600" cy="99036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5810400" y="2448000"/>
            <a:ext cx="16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35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AHB-Lite Fabric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5829480" y="2724120"/>
            <a:ext cx="15998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Master, decoder, mux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8858160" y="1809720"/>
            <a:ext cx="1657080" cy="81864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8972640" y="191448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4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RAM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8991720" y="2190600"/>
            <a:ext cx="1390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Store / load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8858160" y="3505320"/>
            <a:ext cx="1657080" cy="818640"/>
          </a:xfrm>
          <a:prstGeom prst="roundRect">
            <a:avLst>
              <a:gd name="adj" fmla="val 0"/>
            </a:avLst>
          </a:prstGeom>
          <a:solidFill>
            <a:srgbClr val="eaf2fb"/>
          </a:solidFill>
          <a:ln w="11430">
            <a:solidFill>
              <a:srgbClr val="8cb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8972640" y="361008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rmAutofit/>
          </a:bodyPr>
          <a:p>
            <a:pPr algn="ctr">
              <a:lnSpc>
                <a:spcPct val="108000"/>
              </a:lnSpc>
            </a:pPr>
            <a:r>
              <a:rPr b="1" lang="en-US" sz="1430" strike="noStrike" u="none">
                <a:solidFill>
                  <a:srgbClr val="123f70"/>
                </a:solidFill>
                <a:effectLst/>
                <a:uFillTx/>
                <a:latin typeface="Calibri"/>
                <a:ea typeface="Calibri"/>
              </a:rPr>
              <a:t>UART</a:t>
            </a:r>
            <a:endParaRPr b="0" lang="en-US" sz="1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8991720" y="3886200"/>
            <a:ext cx="1390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5f7283"/>
                </a:solidFill>
                <a:effectLst/>
                <a:uFillTx/>
                <a:latin typeface="Calibri"/>
                <a:ea typeface="Calibri"/>
              </a:rPr>
              <a:t>Write / read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2666880" y="2838240"/>
            <a:ext cx="64764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5047920" y="2838240"/>
            <a:ext cx="648000" cy="360"/>
          </a:xfrm>
          <a:prstGeom prst="line">
            <a:avLst/>
          </a:prstGeom>
          <a:ln w="20955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7562520" y="2838240"/>
            <a:ext cx="648000" cy="36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8210520" y="2219040"/>
            <a:ext cx="360" cy="61920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8210520" y="2219040"/>
            <a:ext cx="647640" cy="36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7562520" y="2838240"/>
            <a:ext cx="648000" cy="36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8210520" y="2838240"/>
            <a:ext cx="360" cy="107640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8210520" y="3914640"/>
            <a:ext cx="647640" cy="360"/>
          </a:xfrm>
          <a:prstGeom prst="line">
            <a:avLst/>
          </a:prstGeom>
          <a:ln w="19050">
            <a:solidFill>
              <a:srgbClr val="1555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723960" y="4705200"/>
            <a:ext cx="2381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8000"/>
              </a:lnSpc>
            </a:pPr>
            <a:r>
              <a:rPr b="1" lang="en-US" sz="1050" strike="noStrike" u="none">
                <a:solidFill>
                  <a:srgbClr val="15559f"/>
                </a:solidFill>
                <a:effectLst/>
                <a:uFillTx/>
                <a:latin typeface="Calibri"/>
                <a:ea typeface="Calibri"/>
              </a:rPr>
              <a:t>END-TO-END TEST FLOW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723960" y="5029200"/>
            <a:ext cx="971532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28600" indent="-114480">
              <a:lnSpc>
                <a:spcPct val="108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28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Store and load operations exercise the RAM path.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114480">
              <a:lnSpc>
                <a:spcPct val="108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28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UART write and read operations exercise the clock-domain interface.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114480">
              <a:lnSpc>
                <a:spcPct val="108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280" strike="noStrike" u="none">
                <a:solidFill>
                  <a:srgbClr val="28394a"/>
                </a:solidFill>
                <a:effectLst/>
                <a:uFillTx/>
                <a:latin typeface="Calibri"/>
                <a:ea typeface="Calibri"/>
              </a:rPr>
              <a:t>Waveforms connect program execution to AHB transfers, slave selection, and readback.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Box 1"/>
          <p:cNvSpPr/>
          <p:nvPr/>
        </p:nvSpPr>
        <p:spPr>
          <a:xfrm>
            <a:off x="685800" y="5943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Internship Takeaways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2"/>
          <p:cNvSpPr/>
          <p:nvPr/>
        </p:nvSpPr>
        <p:spPr>
          <a:xfrm>
            <a:off x="777240" y="150876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Technical Skills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3"/>
          <p:cNvSpPr/>
          <p:nvPr/>
        </p:nvSpPr>
        <p:spPr>
          <a:xfrm>
            <a:off x="777240" y="1965960"/>
            <a:ext cx="49374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RTL design fundamentals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AHB-Lite Master &amp; Slave implementation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Burst and back-to-back transfer verification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Wait-state and error-response handling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Clock-domain crossing with asynchronous FIFO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4"/>
          <p:cNvSpPr/>
          <p:nvPr/>
        </p:nvSpPr>
        <p:spPr>
          <a:xfrm>
            <a:off x="6080760" y="15087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System-Level Experience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5"/>
          <p:cNvSpPr/>
          <p:nvPr/>
        </p:nvSpPr>
        <p:spPr>
          <a:xfrm>
            <a:off x="6080760" y="1965960"/>
            <a:ext cx="47545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Pipelined MIPS as the controller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UART and RAM integration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Multi-slave decoder and response MUX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Handshake pulse synchronization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End-to-end testing using MIPS programs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6"/>
          <p:cNvSpPr/>
          <p:nvPr/>
        </p:nvSpPr>
        <p:spPr>
          <a:xfrm>
            <a:off x="777240" y="4892040"/>
            <a:ext cx="10058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From individual RTL blocks to an integrated, verified AHB-Lite system.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fault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2026-09-05T22:26:08Z</dcterms:created>
  <dc:creator>Walnut Exporter</dc:creator>
  <dc:description/>
  <dc:language>en-US</dc:language>
  <cp:lastModifiedBy>Walnut Exporter</cp:lastModifiedBy>
  <dcterms:modified xsi:type="dcterms:W3CDTF">2026-09-05T22:26:08Z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